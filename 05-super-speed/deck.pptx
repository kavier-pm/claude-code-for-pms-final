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Offers per week</c:v>
                </c:pt>
              </c:strCache>
            </c:strRef>
          </c:tx>
          <c:dPt>
            <c:idx val="0"/>
            <c:spPr>
              <a:solidFill>
                <a:srgbClr val="1F4FD8"/>
              </a:solidFill>
              <a:ln>
                <a:solidFill>
                  <a:srgbClr val="0B0F1F"/>
                </a:solidFill>
              </a:ln>
            </c:spPr>
          </c:dPt>
          <c:dPt>
            <c:idx val="1"/>
            <c:spPr>
              <a:solidFill>
                <a:srgbClr val="1F4FD8"/>
              </a:solidFill>
              <a:ln>
                <a:solidFill>
                  <a:srgbClr val="0B0F1F"/>
                </a:solidFill>
              </a:ln>
            </c:spPr>
          </c:dPt>
          <c:dPt>
            <c:idx val="2"/>
            <c:spPr>
              <a:solidFill>
                <a:srgbClr val="E3262F"/>
              </a:solidFill>
              <a:ln>
                <a:solidFill>
                  <a:srgbClr val="0B0F1F"/>
                </a:solidFill>
              </a:ln>
            </c:spPr>
          </c:dPt>
          <c:dPt>
            <c:idx val="3"/>
            <c:spPr>
              <a:solidFill>
                <a:srgbClr val="E3262F"/>
              </a:solidFill>
              <a:ln>
                <a:solidFill>
                  <a:srgbClr val="0B0F1F"/>
                </a:solidFill>
              </a:ln>
            </c:spPr>
          </c:dPt>
          <c:dPt>
            <c:idx val="4"/>
            <c:spPr>
              <a:solidFill>
                <a:srgbClr val="E3262F"/>
              </a:solidFill>
              <a:ln>
                <a:solidFill>
                  <a:srgbClr val="0B0F1F"/>
                </a:solidFill>
              </a:ln>
            </c:spPr>
          </c:dPt>
          <c:cat>
            <c:strRef>
              <c:f>Sheet1!$A$2:$A$6</c:f>
              <c:strCache>
                <c:ptCount val="5"/>
                <c:pt idx="0">
                  <c:v>Before</c:v>
                </c:pt>
                <c:pt idx="1">
                  <c:v>10 Aug</c:v>
                </c:pt>
                <c:pt idx="2">
                  <c:v>17 Aug</c:v>
                </c:pt>
                <c:pt idx="3">
                  <c:v>24 Aug</c:v>
                </c:pt>
                <c:pt idx="4">
                  <c:v>31 Aug</c:v>
                </c:pt>
              </c:strCache>
            </c:strRef>
          </c:cat>
          <c:val>
            <c:numRef>
              <c:f>Sheet1!$B$2:$B$6</c:f>
              <c:numCache>
                <c:formatCode>General</c:formatCode>
                <c:ptCount val="5"/>
                <c:pt idx="0">
                  <c:v>49</c:v>
                </c:pt>
                <c:pt idx="1">
                  <c:v>43</c:v>
                </c:pt>
                <c:pt idx="2">
                  <c:v>16</c:v>
                </c:pt>
                <c:pt idx="3">
                  <c:v>6</c:v>
                </c:pt>
                <c:pt idx="4">
                  <c:v>3</c:v>
                </c:pt>
              </c:numCache>
            </c:numRef>
          </c:val>
        </c:ser>
        <c:dLbls>
          <c:txPr>
            <a:bodyPr/>
            <a:lstStyle/>
            <a:p>
              <a:pPr>
                <a:defRPr sz="1300" b="1">
                  <a:solidFill>
                    <a:srgbClr val="FFFFFF"/>
                  </a:solidFill>
                </a:defRPr>
              </a:pPr>
            </a:p>
          </c:txPr>
          <c:dLblPos val="outEnd"/>
          <c:showLegendKey val="0"/>
          <c:showVal val="1"/>
          <c:showCatName val="0"/>
          <c:showSerName val="0"/>
          <c:showPercent val="0"/>
          <c:showBubbleSize val="0"/>
          <c:showLeaderLines val="1"/>
        </c:dLbls>
        <c:gapWidth val="40"/>
        <c:axId val="-2068027336"/>
        <c:axId val="-2113994440"/>
      </c:barChart>
      <c:catAx>
        <c:axId val="-2068027336"/>
        <c:scaling>
          <c:orientation val="minMax"/>
        </c:scaling>
        <c:delete val="0"/>
        <c:axPos val="b"/>
        <c:majorTickMark val="out"/>
        <c:minorTickMark val="none"/>
        <c:tickLblPos val="nextTo"/>
        <c:spPr>
          <a:ln>
            <a:noFill/>
          </a:ln>
        </c:spPr>
        <c:txPr>
          <a:bodyPr/>
          <a:lstStyle/>
          <a:p>
            <a:pPr>
              <a:defRPr sz="1200">
                <a:solidFill>
                  <a:srgbClr val="FFFFFF"/>
                </a:solidFill>
              </a:defRPr>
            </a:pPr>
          </a:p>
        </c:txPr>
        <c:crossAx val="-2113994440"/>
        <c:crosses val="autoZero"/>
        <c:auto val="1"/>
        <c:lblAlgn val="ctr"/>
        <c:lblOffset val="100"/>
        <c:noMultiLvlLbl val="0"/>
      </c:catAx>
      <c:valAx>
        <c:axId val="-2113994440"/>
        <c:scaling/>
        <c:delete/>
        <c:axPos val="l"/>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Offers per week</c:v>
                </c:pt>
              </c:strCache>
            </c:strRef>
          </c:tx>
          <c:dPt>
            <c:idx val="0"/>
            <c:spPr>
              <a:solidFill>
                <a:srgbClr val="1F4FD8"/>
              </a:solidFill>
              <a:ln>
                <a:solidFill>
                  <a:srgbClr val="0B0F1F"/>
                </a:solidFill>
              </a:ln>
            </c:spPr>
          </c:dPt>
          <c:dPt>
            <c:idx val="1"/>
            <c:spPr>
              <a:solidFill>
                <a:srgbClr val="1F4FD8"/>
              </a:solidFill>
              <a:ln>
                <a:solidFill>
                  <a:srgbClr val="0B0F1F"/>
                </a:solidFill>
              </a:ln>
            </c:spPr>
          </c:dPt>
          <c:dPt>
            <c:idx val="2"/>
            <c:spPr>
              <a:solidFill>
                <a:srgbClr val="1F4FD8"/>
              </a:solidFill>
              <a:ln>
                <a:solidFill>
                  <a:srgbClr val="0B0F1F"/>
                </a:solidFill>
              </a:ln>
            </c:spPr>
          </c:dPt>
          <c:dPt>
            <c:idx val="3"/>
            <c:spPr>
              <a:solidFill>
                <a:srgbClr val="1F4FD8"/>
              </a:solidFill>
              <a:ln>
                <a:solidFill>
                  <a:srgbClr val="0B0F1F"/>
                </a:solidFill>
              </a:ln>
            </c:spPr>
          </c:dPt>
          <c:dPt>
            <c:idx val="4"/>
            <c:spPr>
              <a:solidFill>
                <a:srgbClr val="1F4FD8"/>
              </a:solidFill>
              <a:ln>
                <a:solidFill>
                  <a:srgbClr val="0B0F1F"/>
                </a:solidFill>
              </a:ln>
            </c:spPr>
          </c:dPt>
          <c:dPt>
            <c:idx val="5"/>
            <c:spPr>
              <a:solidFill>
                <a:srgbClr val="1F4FD8"/>
              </a:solidFill>
              <a:ln>
                <a:solidFill>
                  <a:srgbClr val="0B0F1F"/>
                </a:solidFill>
              </a:ln>
            </c:spPr>
          </c:dPt>
          <c:dPt>
            <c:idx val="6"/>
            <c:spPr>
              <a:solidFill>
                <a:srgbClr val="E3262F"/>
              </a:solidFill>
              <a:ln>
                <a:solidFill>
                  <a:srgbClr val="0B0F1F"/>
                </a:solidFill>
              </a:ln>
            </c:spPr>
          </c:dPt>
          <c:dPt>
            <c:idx val="7"/>
            <c:spPr>
              <a:solidFill>
                <a:srgbClr val="E3262F"/>
              </a:solidFill>
              <a:ln>
                <a:solidFill>
                  <a:srgbClr val="0B0F1F"/>
                </a:solidFill>
              </a:ln>
            </c:spPr>
          </c:dPt>
          <c:dPt>
            <c:idx val="8"/>
            <c:spPr>
              <a:solidFill>
                <a:srgbClr val="E3262F"/>
              </a:solidFill>
              <a:ln>
                <a:solidFill>
                  <a:srgbClr val="0B0F1F"/>
                </a:solidFill>
              </a:ln>
            </c:spPr>
          </c:dPt>
          <c:dPt>
            <c:idx val="9"/>
            <c:spPr>
              <a:solidFill>
                <a:srgbClr val="E3262F"/>
              </a:solidFill>
              <a:ln>
                <a:solidFill>
                  <a:srgbClr val="0B0F1F"/>
                </a:solidFill>
              </a:ln>
            </c:spPr>
          </c:dPt>
          <c:cat>
            <c:strRef>
              <c:f>Sheet1!$A$2:$A$11</c:f>
              <c:strCache>
                <c:ptCount val="10"/>
                <c:pt idx="0">
                  <c:v>29 Jun</c:v>
                </c:pt>
                <c:pt idx="1">
                  <c:v>6 Jul</c:v>
                </c:pt>
                <c:pt idx="2">
                  <c:v>13 Jul</c:v>
                </c:pt>
                <c:pt idx="3">
                  <c:v>20 Jul</c:v>
                </c:pt>
                <c:pt idx="4">
                  <c:v>27 Jul</c:v>
                </c:pt>
                <c:pt idx="5">
                  <c:v>3 Aug</c:v>
                </c:pt>
                <c:pt idx="6">
                  <c:v>10 Aug</c:v>
                </c:pt>
                <c:pt idx="7">
                  <c:v>17 Aug</c:v>
                </c:pt>
                <c:pt idx="8">
                  <c:v>24 Aug</c:v>
                </c:pt>
                <c:pt idx="9">
                  <c:v>31 Aug</c:v>
                </c:pt>
              </c:strCache>
            </c:strRef>
          </c:cat>
          <c:val>
            <c:numRef>
              <c:f>Sheet1!$B$2:$B$11</c:f>
              <c:numCache>
                <c:formatCode>General</c:formatCode>
                <c:ptCount val="10"/>
                <c:pt idx="0">
                  <c:v>14</c:v>
                </c:pt>
                <c:pt idx="1">
                  <c:v>13</c:v>
                </c:pt>
                <c:pt idx="2">
                  <c:v>15</c:v>
                </c:pt>
                <c:pt idx="3">
                  <c:v>14</c:v>
                </c:pt>
                <c:pt idx="4">
                  <c:v>13</c:v>
                </c:pt>
                <c:pt idx="5">
                  <c:v>14</c:v>
                </c:pt>
                <c:pt idx="6">
                  <c:v>12</c:v>
                </c:pt>
                <c:pt idx="7">
                  <c:v>5</c:v>
                </c:pt>
                <c:pt idx="8">
                  <c:v>2</c:v>
                </c:pt>
                <c:pt idx="9">
                  <c:v>1</c:v>
                </c:pt>
              </c:numCache>
            </c:numRef>
          </c:val>
        </c:ser>
        <c:dLbls>
          <c:txPr>
            <a:bodyPr/>
            <a:lstStyle/>
            <a:p>
              <a:pPr>
                <a:defRPr sz="1300" b="1">
                  <a:solidFill>
                    <a:srgbClr val="0B0F1F"/>
                  </a:solidFill>
                </a:defRPr>
              </a:pPr>
            </a:p>
          </c:txPr>
          <c:dLblPos val="outEnd"/>
          <c:showLegendKey val="0"/>
          <c:showVal val="1"/>
          <c:showCatName val="0"/>
          <c:showSerName val="0"/>
          <c:showPercent val="0"/>
          <c:showBubbleSize val="0"/>
          <c:showLeaderLines val="1"/>
        </c:dLbls>
        <c:gapWidth val="40"/>
        <c:axId val="-2068027336"/>
        <c:axId val="-2113994440"/>
      </c:barChart>
      <c:catAx>
        <c:axId val="-2068027336"/>
        <c:scaling>
          <c:orientation val="minMax"/>
        </c:scaling>
        <c:delete val="0"/>
        <c:axPos val="b"/>
        <c:majorTickMark val="out"/>
        <c:minorTickMark val="none"/>
        <c:tickLblPos val="nextTo"/>
        <c:spPr>
          <a:ln>
            <a:noFill/>
          </a:ln>
        </c:spPr>
        <c:txPr>
          <a:bodyPr/>
          <a:lstStyle/>
          <a:p>
            <a:pPr>
              <a:defRPr sz="1200">
                <a:solidFill>
                  <a:srgbClr val="0B0F1F"/>
                </a:solidFill>
              </a:defRPr>
            </a:pPr>
          </a:p>
        </c:txPr>
        <c:crossAx val="-2113994440"/>
        <c:crosses val="autoZero"/>
        <c:auto val="1"/>
        <c:lblAlgn val="ctr"/>
        <c:lblOffset val="100"/>
        <c:noMultiLvlLbl val="0"/>
      </c:catAx>
      <c:valAx>
        <c:axId val="-2113994440"/>
        <c:scaling/>
        <c:delete/>
        <c:axPos val="l"/>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decision meeting. In about fifteen minutes I want to show you what 4.2 actually did to responders, why it happened, and what I think we should build, so you can make three calls at the end. Everything here comes from the callout history, 25 support tickets, Sofia's four handler interviews and the routing code. One caveat up front: the callout file hasn't been verified by Ravi yet, so treat the exact numbers as strong signals, not final figures.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you remember one thing, it's this. Four of our sixteen responders went from about twelve offers a week each to almost none. Combined, they went from 49 offers a week to 3, and not one of them has come back. These weren't weak responders; before the release they accepted 69 to 87 percent of their offers, and Vesper was one of the best in the file. The chart shows the four combined, week by week. The drop starts the week 4.2 shipped and never recovers.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what that looks like for one person. Vesper took eight of every ten jobs all summer. His handler, Aunt Dot, told Sofia that his phone often buzzes downstairs while he's upstairs. With 90 seconds he made it. With 60 he didn't. He missed six jobs in the release week, each miss moved him down the line, and fewer offers came. By the end of August he was getting one offer a week, and nothing told him why. Dot only noticed because she was cooking for someone who was home all week.</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things combined. First, the shorter timer made everyone miss more in the release week: acceptance fell from 78 to 54 percent. Second, the scoring rules. A missed offer counts exactly like a no, a miss costs more than a yes earns, so you need six out of ten just to stand still, and nothing ever restores points. Third, offers go down the line one at a time, so if you're at the back you're only asked when everyone ahead says no. Together, the people who missed the most fell to the back and could never earn their way out.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Priya's handover said this was August being quiet. The data doesn't support that for the collapse. The first week of August was the best week of the summer, and the drop came all at once in the release week. A quiet month would hit everyone; instead twelve responders got more work and four got none. The clearest proof is Kip's two responders: same handler, same city, same weeks. Meteor Mite went from eleven offers to one while The Gale went from thirteen to twenty-one. August might explain a small slice of the lower volume afterwards, at most around thirty percent, but none of the collapse.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why didn't anyone see this? Three reasons. Our headline metric hid it: acceptance rate looks like it recovered to 73 percent, but partly because the stuck responders stopped being offered anything, so their misses dropped out of the maths. Callouts actually filled are still about nine percent down. Second, a missed offer just disappears from the phone, so about forty percent of tickets are really asking 'is my account broken?' Third, two of the four stuck responders never filed a ticket at all; we only found them in Sofia's design interviews.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analysts looked at this from different angles and debated it. They agree with high confidence that the scoring rules are the lock-in and must be fixed. They agree with medium confidence that the shorter timer was the trigger. What they could not settle is why those four specifically kept missing afterwards. It's either that the timer is too short for how they answer, that their phones weren't getting offers in time, or that they chose not to. The fix I'm proposing works for all three, and the new logging will tell us which it is.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what we'd build, from the point of view of the people it happens to. A missed offer stops counting against you; a real no still does, which keeps Wen's original intent. Every offer says what, where and how far, with leave-by and arrive-by times. A fifteen-second grace window gives near misses a fair chance without slowing dispatch. Every miss comes back with context and a one-tap reason, which is also how we'll learn whether it's the timer or the phones. Responders can say 'I'm free now, put me first', with limits. And handlers see who's quiet or overloaded, and can act.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clickable prototype; I'll switch to it live. On the left is what Vesper sees when a signal arrives: urgency, the incident, a nine-minute drive in big type, leave by and arrive by, and a huge Take It button you can hit with gloves on. If the sixty seconds run out, the card turns yellow and says 'still lit' for fifteen seconds. The look is an exploratory direction; Sofia will map it to our real design system. The people in it are real cases from the data and interviews; individual offer times are illustrative.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three calls I need from you. First, a missed offer should cost nothing, while a real no still counts. If filling a callout slows by more than ten seconds, we revisit. Second, reset the four stuck responders now rather than waiting for more data; they've lost work every week since the twelfth of August. We'd ask Dot and Kip to confirm their phones work first. Third, keep 'put me first' tight: fifteen-minute drive, matching skills, thirty minutes, once every four hours. That protects urgent callouts.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how we'll know it worked. The four are back to at least half their usual offers within three weeks. Callouts filled per week return to about 132, and we report that next to acceptance rate from now on, because acceptance rate alone hid this. 'Is my account broken' tickets fall by half. And two guardrails: filling a callout shouldn't get more than ten seconds slower, and first-in-line offers should be accepted at close to the normal rate.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We'd ship in five phases, each behind an on/off switch and piloted in Kip's city first, with Wen owning a two-week watch after each. Logging comes first because it's invisible, small, and settles the timer-versus-phone question. Then the scoring fix and the reset, which stops the harm. One risk to check before anything ships: scores are held in memory in the code we reviewed. If installing a release resets everyone to the middle, the fix itself could restart the spiral. Wen confirms that before we ship.</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close: I'm asking for the three decisions, room in the next release for logging and the scoring fix, and Sofia's time. In parallel, I'm sending Wen one combined data request, the offer log, real scores and the push-notification change, and asking Ravi to confirm what the callout file measures and to send September's numbers. The detail is all in the one-pager, the PRD and the engineering handoff. Happy to take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chart" Target="../charts/char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chart" Target="../charts/char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D1B4C"/>
        </a:solidFill>
        <a:effectLst/>
      </p:bgPr>
    </p:bg>
    <p:spTree>
      <p:nvGrpSpPr>
        <p:cNvPr id="1" name=""/>
        <p:cNvGrpSpPr/>
        <p:nvPr/>
      </p:nvGrpSpPr>
      <p:grpSpPr/>
      <p:sp>
        <p:nvSpPr>
          <p:cNvPr id="2" name="TextBox 1"/>
          <p:cNvSpPr txBox="1"/>
          <p:nvPr/>
        </p:nvSpPr>
        <p:spPr>
          <a:xfrm>
            <a:off x="548640" y="411480"/>
            <a:ext cx="8229600" cy="320040"/>
          </a:xfrm>
          <a:prstGeom prst="rect">
            <a:avLst/>
          </a:prstGeom>
          <a:noFill/>
        </p:spPr>
        <p:txBody>
          <a:bodyPr wrap="square" lIns="0" rIns="0" tIns="0" bIns="0" anchor="t">
            <a:spAutoFit/>
          </a:bodyPr>
          <a:lstStyle/>
          <a:p>
            <a:pPr algn="l">
              <a:spcAft>
                <a:spcPts val="600"/>
              </a:spcAft>
            </a:pPr>
            <a:r>
              <a:rPr sz="1300" b="1">
                <a:solidFill>
                  <a:srgbClr val="C9D4FF"/>
                </a:solidFill>
                <a:latin typeface="Calibri"/>
              </a:rPr>
              <a:t>ROOK DISPATCH · FOR HELEN ACHEBE · 8 OCT 2026</a:t>
            </a:r>
          </a:p>
        </p:txBody>
      </p:sp>
      <p:sp>
        <p:nvSpPr>
          <p:cNvPr id="3" name="TextBox 2"/>
          <p:cNvSpPr txBox="1"/>
          <p:nvPr/>
        </p:nvSpPr>
        <p:spPr>
          <a:xfrm>
            <a:off x="10911535" y="6446520"/>
            <a:ext cx="822960" cy="274320"/>
          </a:xfrm>
          <a:prstGeom prst="rect">
            <a:avLst/>
          </a:prstGeom>
          <a:noFill/>
        </p:spPr>
        <p:txBody>
          <a:bodyPr wrap="square" lIns="0" rIns="0" tIns="0" bIns="0" anchor="t">
            <a:spAutoFit/>
          </a:bodyPr>
          <a:lstStyle/>
          <a:p>
            <a:pPr algn="r">
              <a:spcAft>
                <a:spcPts val="600"/>
              </a:spcAft>
            </a:pPr>
            <a:r>
              <a:rPr sz="1100" b="0">
                <a:solidFill>
                  <a:srgbClr val="C9D4FF"/>
                </a:solidFill>
                <a:latin typeface="Calibri"/>
              </a:rPr>
              <a:t>1 / 13</a:t>
            </a:r>
          </a:p>
        </p:txBody>
      </p:sp>
      <p:sp>
        <p:nvSpPr>
          <p:cNvPr id="4" name="TextBox 3"/>
          <p:cNvSpPr txBox="1"/>
          <p:nvPr/>
        </p:nvSpPr>
        <p:spPr>
          <a:xfrm>
            <a:off x="548640" y="1463040"/>
            <a:ext cx="10058400" cy="2377440"/>
          </a:xfrm>
          <a:prstGeom prst="rect">
            <a:avLst/>
          </a:prstGeom>
          <a:noFill/>
        </p:spPr>
        <p:txBody>
          <a:bodyPr wrap="square" lIns="0" rIns="0" tIns="0" bIns="0" anchor="t">
            <a:spAutoFit/>
          </a:bodyPr>
          <a:lstStyle/>
          <a:p>
            <a:pPr algn="l">
              <a:spcAft>
                <a:spcPts val="600"/>
              </a:spcAft>
            </a:pPr>
            <a:r>
              <a:rPr sz="6000" b="0">
                <a:solidFill>
                  <a:srgbClr val="FFCC1F"/>
                </a:solidFill>
                <a:latin typeface="Arial Black"/>
              </a:rPr>
              <a:t>Bringing quiet</a:t>
            </a:r>
          </a:p>
          <a:p>
            <a:pPr algn="l">
              <a:spcAft>
                <a:spcPts val="600"/>
              </a:spcAft>
            </a:pPr>
            <a:r>
              <a:rPr sz="6000" b="0">
                <a:solidFill>
                  <a:srgbClr val="FFCC1F"/>
                </a:solidFill>
                <a:latin typeface="Arial Black"/>
              </a:rPr>
              <a:t>responders back</a:t>
            </a:r>
          </a:p>
        </p:txBody>
      </p:sp>
      <p:sp>
        <p:nvSpPr>
          <p:cNvPr id="5" name="TextBox 4"/>
          <p:cNvSpPr txBox="1"/>
          <p:nvPr/>
        </p:nvSpPr>
        <p:spPr>
          <a:xfrm>
            <a:off x="548640" y="4023360"/>
            <a:ext cx="9144000" cy="548640"/>
          </a:xfrm>
          <a:prstGeom prst="rect">
            <a:avLst/>
          </a:prstGeom>
          <a:noFill/>
        </p:spPr>
        <p:txBody>
          <a:bodyPr wrap="square" lIns="0" rIns="0" tIns="0" bIns="0" anchor="t">
            <a:spAutoFit/>
          </a:bodyPr>
          <a:lstStyle/>
          <a:p>
            <a:pPr algn="l">
              <a:spcAft>
                <a:spcPts val="600"/>
              </a:spcAft>
            </a:pPr>
            <a:r>
              <a:rPr sz="2200" b="0">
                <a:solidFill>
                  <a:srgbClr val="FFFFFF"/>
                </a:solidFill>
                <a:latin typeface="Calibri"/>
              </a:rPr>
              <a:t>What 4.2 did, why, and the fix we'd build: Rook Signal.</a:t>
            </a:r>
          </a:p>
        </p:txBody>
      </p:sp>
      <p:sp>
        <p:nvSpPr>
          <p:cNvPr id="6" name="TextBox 5"/>
          <p:cNvSpPr txBox="1"/>
          <p:nvPr/>
        </p:nvSpPr>
        <p:spPr>
          <a:xfrm>
            <a:off x="548640" y="6400800"/>
            <a:ext cx="9997135" cy="274320"/>
          </a:xfrm>
          <a:prstGeom prst="rect">
            <a:avLst/>
          </a:prstGeom>
          <a:noFill/>
        </p:spPr>
        <p:txBody>
          <a:bodyPr wrap="square" lIns="0" rIns="0" tIns="0" bIns="0" anchor="t">
            <a:spAutoFit/>
          </a:bodyPr>
          <a:lstStyle/>
          <a:p>
            <a:pPr algn="l">
              <a:spcAft>
                <a:spcPts val="600"/>
              </a:spcAft>
            </a:pPr>
            <a:r>
              <a:rPr sz="1100" b="0">
                <a:solidFill>
                  <a:srgbClr val="C9D4FF"/>
                </a:solidFill>
                <a:latin typeface="Calibri"/>
              </a:rPr>
              <a:t>Owners: Dispatch PM · Wen Li &amp; Marcus Oyelaran's team · Sofia Marino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D1B4C"/>
        </a:solidFill>
        <a:effectLst/>
      </p:bgPr>
    </p:bg>
    <p:spTree>
      <p:nvGrpSpPr>
        <p:cNvPr id="1" name=""/>
        <p:cNvGrpSpPr/>
        <p:nvPr/>
      </p:nvGrpSpPr>
      <p:grpSpPr/>
      <p:sp>
        <p:nvSpPr>
          <p:cNvPr id="2" name="TextBox 1"/>
          <p:cNvSpPr txBox="1"/>
          <p:nvPr/>
        </p:nvSpPr>
        <p:spPr>
          <a:xfrm>
            <a:off x="548640" y="411480"/>
            <a:ext cx="8229600" cy="320040"/>
          </a:xfrm>
          <a:prstGeom prst="rect">
            <a:avLst/>
          </a:prstGeom>
          <a:noFill/>
        </p:spPr>
        <p:txBody>
          <a:bodyPr wrap="square" lIns="0" rIns="0" tIns="0" bIns="0" anchor="t">
            <a:spAutoFit/>
          </a:bodyPr>
          <a:lstStyle/>
          <a:p>
            <a:pPr algn="l">
              <a:spcAft>
                <a:spcPts val="600"/>
              </a:spcAft>
            </a:pPr>
            <a:r>
              <a:rPr sz="1300" b="1">
                <a:solidFill>
                  <a:srgbClr val="C9D4FF"/>
                </a:solidFill>
                <a:latin typeface="Calibri"/>
              </a:rPr>
              <a:t>THE ONE NUMBER</a:t>
            </a:r>
          </a:p>
        </p:txBody>
      </p:sp>
      <p:sp>
        <p:nvSpPr>
          <p:cNvPr id="3" name="TextBox 2"/>
          <p:cNvSpPr txBox="1"/>
          <p:nvPr/>
        </p:nvSpPr>
        <p:spPr>
          <a:xfrm>
            <a:off x="10911535" y="6446520"/>
            <a:ext cx="822960" cy="274320"/>
          </a:xfrm>
          <a:prstGeom prst="rect">
            <a:avLst/>
          </a:prstGeom>
          <a:noFill/>
        </p:spPr>
        <p:txBody>
          <a:bodyPr wrap="square" lIns="0" rIns="0" tIns="0" bIns="0" anchor="t">
            <a:spAutoFit/>
          </a:bodyPr>
          <a:lstStyle/>
          <a:p>
            <a:pPr algn="r">
              <a:spcAft>
                <a:spcPts val="600"/>
              </a:spcAft>
            </a:pPr>
            <a:r>
              <a:rPr sz="1100" b="0">
                <a:solidFill>
                  <a:srgbClr val="C9D4FF"/>
                </a:solidFill>
                <a:latin typeface="Calibri"/>
              </a:rPr>
              <a:t>2 / 13</a:t>
            </a:r>
          </a:p>
        </p:txBody>
      </p:sp>
      <p:sp>
        <p:nvSpPr>
          <p:cNvPr id="4" name="TextBox 3"/>
          <p:cNvSpPr txBox="1"/>
          <p:nvPr/>
        </p:nvSpPr>
        <p:spPr>
          <a:xfrm>
            <a:off x="548640" y="1280160"/>
            <a:ext cx="5669280" cy="1828800"/>
          </a:xfrm>
          <a:prstGeom prst="rect">
            <a:avLst/>
          </a:prstGeom>
          <a:noFill/>
        </p:spPr>
        <p:txBody>
          <a:bodyPr wrap="square" lIns="0" rIns="0" tIns="0" bIns="0" anchor="t">
            <a:spAutoFit/>
          </a:bodyPr>
          <a:lstStyle/>
          <a:p>
            <a:pPr algn="l">
              <a:spcAft>
                <a:spcPts val="600"/>
              </a:spcAft>
            </a:pPr>
            <a:r>
              <a:rPr sz="8000" b="0">
                <a:solidFill>
                  <a:srgbClr val="FFCC1F"/>
                </a:solidFill>
                <a:latin typeface="Arial Black"/>
              </a:rPr>
              <a:t>4 of 16</a:t>
            </a:r>
          </a:p>
        </p:txBody>
      </p:sp>
      <p:sp>
        <p:nvSpPr>
          <p:cNvPr id="5" name="TextBox 4"/>
          <p:cNvSpPr txBox="1"/>
          <p:nvPr/>
        </p:nvSpPr>
        <p:spPr>
          <a:xfrm>
            <a:off x="548640" y="3383280"/>
            <a:ext cx="5120640" cy="1463040"/>
          </a:xfrm>
          <a:prstGeom prst="rect">
            <a:avLst/>
          </a:prstGeom>
          <a:noFill/>
        </p:spPr>
        <p:txBody>
          <a:bodyPr wrap="square" lIns="0" rIns="0" tIns="0" bIns="0" anchor="t">
            <a:spAutoFit/>
          </a:bodyPr>
          <a:lstStyle/>
          <a:p>
            <a:pPr algn="l">
              <a:spcAft>
                <a:spcPts val="600"/>
              </a:spcAft>
            </a:pPr>
            <a:r>
              <a:rPr sz="2200" b="0">
                <a:solidFill>
                  <a:srgbClr val="FFFFFF"/>
                </a:solidFill>
                <a:latin typeface="Calibri"/>
              </a:rPr>
              <a:t>responders went from ~12 offers a week to </a:t>
            </a:r>
            <a:r>
              <a:rPr sz="2200" b="1">
                <a:solidFill>
                  <a:srgbClr val="FFFFFF"/>
                </a:solidFill>
                <a:latin typeface="Calibri"/>
              </a:rPr>
              <a:t>0–1</a:t>
            </a:r>
            <a:r>
              <a:rPr sz="2200" b="0">
                <a:solidFill>
                  <a:srgbClr val="FFFFFF"/>
                </a:solidFill>
                <a:latin typeface="Calibri"/>
              </a:rPr>
              <a:t>. Combined: </a:t>
            </a:r>
            <a:r>
              <a:rPr sz="2200" b="1">
                <a:solidFill>
                  <a:srgbClr val="FFFFFF"/>
                </a:solidFill>
                <a:latin typeface="Calibri"/>
              </a:rPr>
              <a:t>49 → 3</a:t>
            </a:r>
            <a:r>
              <a:rPr sz="2200" b="0">
                <a:solidFill>
                  <a:srgbClr val="FFFFFF"/>
                </a:solidFill>
                <a:latin typeface="Calibri"/>
              </a:rPr>
              <a:t>. None has recovered.</a:t>
            </a:r>
          </a:p>
        </p:txBody>
      </p:sp>
      <p:graphicFrame>
        <p:nvGraphicFramePr>
          <p:cNvPr id="6" name="Chart 5"/>
          <p:cNvGraphicFramePr>
            <a:graphicFrameLocks noGrp="1"/>
          </p:cNvGraphicFramePr>
          <p:nvPr/>
        </p:nvGraphicFramePr>
        <p:xfrm>
          <a:off x="6400800" y="1188720"/>
          <a:ext cx="5212080" cy="4389120"/>
        </p:xfrm>
        <a:graphic>
          <a:graphicData uri="http://schemas.openxmlformats.org/drawingml/2006/chart">
            <c:chart xmlns:c="http://schemas.openxmlformats.org/drawingml/2006/chart" r:id="rId3"/>
          </a:graphicData>
        </a:graphic>
      </p:graphicFrame>
      <p:sp>
        <p:nvSpPr>
          <p:cNvPr id="7" name="TextBox 6"/>
          <p:cNvSpPr txBox="1"/>
          <p:nvPr/>
        </p:nvSpPr>
        <p:spPr>
          <a:xfrm>
            <a:off x="548640" y="6400800"/>
            <a:ext cx="9997135" cy="274320"/>
          </a:xfrm>
          <a:prstGeom prst="rect">
            <a:avLst/>
          </a:prstGeom>
          <a:noFill/>
        </p:spPr>
        <p:txBody>
          <a:bodyPr wrap="square" lIns="0" rIns="0" tIns="0" bIns="0" anchor="t">
            <a:spAutoFit/>
          </a:bodyPr>
          <a:lstStyle/>
          <a:p>
            <a:pPr algn="l">
              <a:spcAft>
                <a:spcPts val="600"/>
              </a:spcAft>
            </a:pPr>
            <a:r>
              <a:rPr sz="1100" b="0">
                <a:solidFill>
                  <a:srgbClr val="C9D4FF"/>
                </a:solidFill>
                <a:latin typeface="Calibri"/>
              </a:rPr>
              <a:t>Source: callout history CSV: Farlight, Meteor Mite, The Undertow, Vesper (not yet verified by Ravi)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8229600" cy="320040"/>
          </a:xfrm>
          <a:prstGeom prst="rect">
            <a:avLst/>
          </a:prstGeom>
          <a:noFill/>
        </p:spPr>
        <p:txBody>
          <a:bodyPr wrap="square" lIns="0" rIns="0" tIns="0" bIns="0" anchor="t">
            <a:spAutoFit/>
          </a:bodyPr>
          <a:lstStyle/>
          <a:p>
            <a:pPr algn="l">
              <a:spcAft>
                <a:spcPts val="600"/>
              </a:spcAft>
            </a:pPr>
            <a:r>
              <a:rPr sz="1300" b="1">
                <a:solidFill>
                  <a:srgbClr val="E3262F"/>
                </a:solidFill>
                <a:latin typeface="Calibri"/>
              </a:rPr>
              <a:t>ONE RESPONDER'S AUGUST</a:t>
            </a:r>
          </a:p>
        </p:txBody>
      </p:sp>
      <p:sp>
        <p:nvSpPr>
          <p:cNvPr id="3" name="TextBox 2"/>
          <p:cNvSpPr txBox="1"/>
          <p:nvPr/>
        </p:nvSpPr>
        <p:spPr>
          <a:xfrm>
            <a:off x="548640" y="731520"/>
            <a:ext cx="11094415" cy="822960"/>
          </a:xfrm>
          <a:prstGeom prst="rect">
            <a:avLst/>
          </a:prstGeom>
          <a:noFill/>
        </p:spPr>
        <p:txBody>
          <a:bodyPr wrap="square" lIns="0" rIns="0" tIns="0" bIns="0" anchor="t">
            <a:spAutoFit/>
          </a:bodyPr>
          <a:lstStyle/>
          <a:p>
            <a:pPr algn="l">
              <a:spcAft>
                <a:spcPts val="600"/>
              </a:spcAft>
            </a:pPr>
            <a:r>
              <a:rPr sz="3200" b="0">
                <a:solidFill>
                  <a:srgbClr val="0B0F1F"/>
                </a:solidFill>
                <a:latin typeface="Arial Black"/>
              </a:rPr>
              <a:t>Vesper: 14 offers a week → 1</a:t>
            </a:r>
          </a:p>
        </p:txBody>
      </p:sp>
      <p:sp>
        <p:nvSpPr>
          <p:cNvPr id="4" name="TextBox 3"/>
          <p:cNvSpPr txBox="1"/>
          <p:nvPr/>
        </p:nvSpPr>
        <p:spPr>
          <a:xfrm>
            <a:off x="10911535" y="6446520"/>
            <a:ext cx="822960" cy="274320"/>
          </a:xfrm>
          <a:prstGeom prst="rect">
            <a:avLst/>
          </a:prstGeom>
          <a:noFill/>
        </p:spPr>
        <p:txBody>
          <a:bodyPr wrap="square" lIns="0" rIns="0" tIns="0" bIns="0" anchor="t">
            <a:spAutoFit/>
          </a:bodyPr>
          <a:lstStyle/>
          <a:p>
            <a:pPr algn="r">
              <a:spcAft>
                <a:spcPts val="600"/>
              </a:spcAft>
            </a:pPr>
            <a:r>
              <a:rPr sz="1100" b="0">
                <a:solidFill>
                  <a:srgbClr val="4D5778"/>
                </a:solidFill>
                <a:latin typeface="Calibri"/>
              </a:rPr>
              <a:t>3 / 13</a:t>
            </a:r>
          </a:p>
        </p:txBody>
      </p:sp>
      <p:graphicFrame>
        <p:nvGraphicFramePr>
          <p:cNvPr id="5" name="Chart 4"/>
          <p:cNvGraphicFramePr>
            <a:graphicFrameLocks noGrp="1"/>
          </p:cNvGraphicFramePr>
          <p:nvPr/>
        </p:nvGraphicFramePr>
        <p:xfrm>
          <a:off x="548640" y="1737360"/>
          <a:ext cx="6035040" cy="4023360"/>
        </p:xfrm>
        <a:graphic>
          <a:graphicData uri="http://schemas.openxmlformats.org/drawingml/2006/chart">
            <c:chart xmlns:c="http://schemas.openxmlformats.org/drawingml/2006/chart" r:id="rId3"/>
          </a:graphicData>
        </a:graphic>
      </p:graphicFrame>
      <p:sp>
        <p:nvSpPr>
          <p:cNvPr id="6" name="TextBox 5"/>
          <p:cNvSpPr txBox="1"/>
          <p:nvPr/>
        </p:nvSpPr>
        <p:spPr>
          <a:xfrm>
            <a:off x="7040880" y="2194560"/>
            <a:ext cx="4572000" cy="2377440"/>
          </a:xfrm>
          <a:prstGeom prst="rect">
            <a:avLst/>
          </a:prstGeom>
          <a:noFill/>
        </p:spPr>
        <p:txBody>
          <a:bodyPr wrap="square" lIns="0" rIns="0" tIns="0" bIns="0" anchor="t">
            <a:spAutoFit/>
          </a:bodyPr>
          <a:lstStyle/>
          <a:p>
            <a:pPr algn="l">
              <a:spcAft>
                <a:spcPts val="600"/>
              </a:spcAft>
            </a:pPr>
            <a:r>
              <a:rPr sz="2600" b="1">
                <a:solidFill>
                  <a:srgbClr val="0B0F1F"/>
                </a:solidFill>
                <a:latin typeface="Calibri"/>
              </a:rPr>
              <a:t>“By the time he’s actually got a thumb on the screen — it’s gone. Gone to somebody else already.”</a:t>
            </a:r>
          </a:p>
        </p:txBody>
      </p:sp>
      <p:sp>
        <p:nvSpPr>
          <p:cNvPr id="7" name="TextBox 6"/>
          <p:cNvSpPr txBox="1"/>
          <p:nvPr/>
        </p:nvSpPr>
        <p:spPr>
          <a:xfrm>
            <a:off x="7040880" y="4754880"/>
            <a:ext cx="4572000" cy="457200"/>
          </a:xfrm>
          <a:prstGeom prst="rect">
            <a:avLst/>
          </a:prstGeom>
          <a:noFill/>
        </p:spPr>
        <p:txBody>
          <a:bodyPr wrap="square" lIns="0" rIns="0" tIns="0" bIns="0" anchor="t">
            <a:spAutoFit/>
          </a:bodyPr>
          <a:lstStyle/>
          <a:p>
            <a:pPr algn="l">
              <a:spcAft>
                <a:spcPts val="600"/>
              </a:spcAft>
            </a:pPr>
            <a:r>
              <a:rPr sz="1600" b="0">
                <a:solidFill>
                  <a:srgbClr val="4D5778"/>
                </a:solidFill>
                <a:latin typeface="Calibri"/>
              </a:rPr>
              <a:t>Aunt Dot, Vesper's handler</a:t>
            </a:r>
          </a:p>
        </p:txBody>
      </p:sp>
      <p:sp>
        <p:nvSpPr>
          <p:cNvPr id="8" name="TextBox 7"/>
          <p:cNvSpPr txBox="1"/>
          <p:nvPr/>
        </p:nvSpPr>
        <p:spPr>
          <a:xfrm>
            <a:off x="548640" y="6400800"/>
            <a:ext cx="9997135" cy="274320"/>
          </a:xfrm>
          <a:prstGeom prst="rect">
            <a:avLst/>
          </a:prstGeom>
          <a:noFill/>
        </p:spPr>
        <p:txBody>
          <a:bodyPr wrap="square" lIns="0" rIns="0" tIns="0" bIns="0" anchor="t">
            <a:spAutoFit/>
          </a:bodyPr>
          <a:lstStyle/>
          <a:p>
            <a:pPr algn="l">
              <a:spcAft>
                <a:spcPts val="600"/>
              </a:spcAft>
            </a:pPr>
            <a:r>
              <a:rPr sz="1100" b="0">
                <a:solidFill>
                  <a:srgbClr val="4D5778"/>
                </a:solidFill>
                <a:latin typeface="Calibri"/>
              </a:rPr>
              <a:t>Weeks of 29 Jun – 31 Aug; 4.2 shipped Wed 12 Aug. Source: callout history CSV; Sofia's interview, 3 Sep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8229600" cy="320040"/>
          </a:xfrm>
          <a:prstGeom prst="rect">
            <a:avLst/>
          </a:prstGeom>
          <a:noFill/>
        </p:spPr>
        <p:txBody>
          <a:bodyPr wrap="square" lIns="0" rIns="0" tIns="0" bIns="0" anchor="t">
            <a:spAutoFit/>
          </a:bodyPr>
          <a:lstStyle/>
          <a:p>
            <a:pPr algn="l">
              <a:spcAft>
                <a:spcPts val="600"/>
              </a:spcAft>
            </a:pPr>
            <a:r>
              <a:rPr sz="1300" b="1">
                <a:solidFill>
                  <a:srgbClr val="E3262F"/>
                </a:solidFill>
                <a:latin typeface="Calibri"/>
              </a:rPr>
              <a:t>HOW IT HAPPENED</a:t>
            </a:r>
          </a:p>
        </p:txBody>
      </p:sp>
      <p:sp>
        <p:nvSpPr>
          <p:cNvPr id="3" name="TextBox 2"/>
          <p:cNvSpPr txBox="1"/>
          <p:nvPr/>
        </p:nvSpPr>
        <p:spPr>
          <a:xfrm>
            <a:off x="548640" y="731520"/>
            <a:ext cx="11094415" cy="822960"/>
          </a:xfrm>
          <a:prstGeom prst="rect">
            <a:avLst/>
          </a:prstGeom>
          <a:noFill/>
        </p:spPr>
        <p:txBody>
          <a:bodyPr wrap="square" lIns="0" rIns="0" tIns="0" bIns="0" anchor="t">
            <a:spAutoFit/>
          </a:bodyPr>
          <a:lstStyle/>
          <a:p>
            <a:pPr algn="l">
              <a:spcAft>
                <a:spcPts val="600"/>
              </a:spcAft>
            </a:pPr>
            <a:r>
              <a:rPr sz="3200" b="0">
                <a:solidFill>
                  <a:srgbClr val="0B0F1F"/>
                </a:solidFill>
                <a:latin typeface="Arial Black"/>
              </a:rPr>
              <a:t>A bad week, then a trap with no exit</a:t>
            </a:r>
          </a:p>
        </p:txBody>
      </p:sp>
      <p:sp>
        <p:nvSpPr>
          <p:cNvPr id="4" name="TextBox 3"/>
          <p:cNvSpPr txBox="1"/>
          <p:nvPr/>
        </p:nvSpPr>
        <p:spPr>
          <a:xfrm>
            <a:off x="10911535" y="6446520"/>
            <a:ext cx="822960" cy="274320"/>
          </a:xfrm>
          <a:prstGeom prst="rect">
            <a:avLst/>
          </a:prstGeom>
          <a:noFill/>
        </p:spPr>
        <p:txBody>
          <a:bodyPr wrap="square" lIns="0" rIns="0" tIns="0" bIns="0" anchor="t">
            <a:spAutoFit/>
          </a:bodyPr>
          <a:lstStyle/>
          <a:p>
            <a:pPr algn="r">
              <a:spcAft>
                <a:spcPts val="600"/>
              </a:spcAft>
            </a:pPr>
            <a:r>
              <a:rPr sz="1100" b="0">
                <a:solidFill>
                  <a:srgbClr val="4D5778"/>
                </a:solidFill>
                <a:latin typeface="Calibri"/>
              </a:rPr>
              <a:t>4 / 13</a:t>
            </a:r>
          </a:p>
        </p:txBody>
      </p:sp>
      <p:sp>
        <p:nvSpPr>
          <p:cNvPr id="5" name="Rounded Rectangle 4"/>
          <p:cNvSpPr/>
          <p:nvPr/>
        </p:nvSpPr>
        <p:spPr>
          <a:xfrm>
            <a:off x="612647" y="2075688"/>
            <a:ext cx="3246120" cy="3108960"/>
          </a:xfrm>
          <a:prstGeom prst="roundRect">
            <a:avLst>
              <a:gd name="adj" fmla="val 8000"/>
            </a:avLst>
          </a:prstGeom>
          <a:solidFill>
            <a:srgbClr val="0B0F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2011680"/>
            <a:ext cx="3246120" cy="3108960"/>
          </a:xfrm>
          <a:prstGeom prst="roundRect">
            <a:avLst>
              <a:gd name="adj" fmla="val 8000"/>
            </a:avLst>
          </a:prstGeom>
          <a:solidFill>
            <a:srgbClr val="E3262F"/>
          </a:solidFill>
          <a:ln w="28575">
            <a:solidFill>
              <a:srgbClr val="0B0F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2194560"/>
            <a:ext cx="2788920" cy="411480"/>
          </a:xfrm>
          <a:prstGeom prst="rect">
            <a:avLst/>
          </a:prstGeom>
          <a:noFill/>
        </p:spPr>
        <p:txBody>
          <a:bodyPr wrap="square" lIns="0" rIns="0" tIns="0" bIns="0" anchor="t">
            <a:spAutoFit/>
          </a:bodyPr>
          <a:lstStyle/>
          <a:p>
            <a:pPr algn="l">
              <a:spcAft>
                <a:spcPts val="600"/>
              </a:spcAft>
            </a:pPr>
            <a:r>
              <a:rPr sz="1600" b="0">
                <a:solidFill>
                  <a:srgbClr val="FFFFFF"/>
                </a:solidFill>
                <a:latin typeface="Arial Black"/>
              </a:rPr>
              <a:t>1. Shorter timer</a:t>
            </a:r>
          </a:p>
        </p:txBody>
      </p:sp>
      <p:sp>
        <p:nvSpPr>
          <p:cNvPr id="8" name="TextBox 7"/>
          <p:cNvSpPr txBox="1"/>
          <p:nvPr/>
        </p:nvSpPr>
        <p:spPr>
          <a:xfrm>
            <a:off x="777240" y="2670048"/>
            <a:ext cx="2788920" cy="2331720"/>
          </a:xfrm>
          <a:prstGeom prst="rect">
            <a:avLst/>
          </a:prstGeom>
          <a:noFill/>
        </p:spPr>
        <p:txBody>
          <a:bodyPr wrap="square" lIns="0" rIns="0" tIns="0" bIns="0" anchor="t">
            <a:spAutoFit/>
          </a:bodyPr>
          <a:lstStyle/>
          <a:p>
            <a:pPr algn="l">
              <a:spcAft>
                <a:spcPts val="600"/>
              </a:spcAft>
            </a:pPr>
            <a:r>
              <a:rPr sz="1500" b="0">
                <a:solidFill>
                  <a:srgbClr val="FFFFFF"/>
                </a:solidFill>
                <a:latin typeface="Calibri"/>
              </a:rPr>
              <a:t>4.2 cut the answer window from 90 to 60 seconds. Everyone missed more: acceptance fell from 78% to 54%.</a:t>
            </a:r>
          </a:p>
        </p:txBody>
      </p:sp>
      <p:sp>
        <p:nvSpPr>
          <p:cNvPr id="9" name="TextBox 8"/>
          <p:cNvSpPr txBox="1"/>
          <p:nvPr/>
        </p:nvSpPr>
        <p:spPr>
          <a:xfrm>
            <a:off x="3886199" y="3200400"/>
            <a:ext cx="411480" cy="640080"/>
          </a:xfrm>
          <a:prstGeom prst="rect">
            <a:avLst/>
          </a:prstGeom>
          <a:noFill/>
        </p:spPr>
        <p:txBody>
          <a:bodyPr wrap="square" lIns="0" rIns="0" tIns="0" bIns="0" anchor="t">
            <a:spAutoFit/>
          </a:bodyPr>
          <a:lstStyle/>
          <a:p>
            <a:pPr algn="ctr">
              <a:spcAft>
                <a:spcPts val="600"/>
              </a:spcAft>
            </a:pPr>
            <a:r>
              <a:rPr sz="3600" b="1">
                <a:solidFill>
                  <a:srgbClr val="E3262F"/>
                </a:solidFill>
                <a:latin typeface="Calibri"/>
              </a:rPr>
              <a:t>→</a:t>
            </a:r>
          </a:p>
        </p:txBody>
      </p:sp>
      <p:sp>
        <p:nvSpPr>
          <p:cNvPr id="10" name="Rounded Rectangle 9"/>
          <p:cNvSpPr/>
          <p:nvPr/>
        </p:nvSpPr>
        <p:spPr>
          <a:xfrm>
            <a:off x="4453128" y="2075688"/>
            <a:ext cx="3246120" cy="3108960"/>
          </a:xfrm>
          <a:prstGeom prst="roundRect">
            <a:avLst>
              <a:gd name="adj" fmla="val 8000"/>
            </a:avLst>
          </a:prstGeom>
          <a:solidFill>
            <a:srgbClr val="0B0F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89120" y="2011680"/>
            <a:ext cx="3246120" cy="3108960"/>
          </a:xfrm>
          <a:prstGeom prst="roundRect">
            <a:avLst>
              <a:gd name="adj" fmla="val 8000"/>
            </a:avLst>
          </a:prstGeom>
          <a:solidFill>
            <a:srgbClr val="FFCC1F"/>
          </a:solidFill>
          <a:ln w="28575">
            <a:solidFill>
              <a:srgbClr val="0B0F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17720" y="2194560"/>
            <a:ext cx="2788920" cy="411480"/>
          </a:xfrm>
          <a:prstGeom prst="rect">
            <a:avLst/>
          </a:prstGeom>
          <a:noFill/>
        </p:spPr>
        <p:txBody>
          <a:bodyPr wrap="square" lIns="0" rIns="0" tIns="0" bIns="0" anchor="t">
            <a:spAutoFit/>
          </a:bodyPr>
          <a:lstStyle/>
          <a:p>
            <a:pPr algn="l">
              <a:spcAft>
                <a:spcPts val="600"/>
              </a:spcAft>
            </a:pPr>
            <a:r>
              <a:rPr sz="1600" b="0">
                <a:solidFill>
                  <a:srgbClr val="0B0F1F"/>
                </a:solidFill>
                <a:latin typeface="Arial Black"/>
              </a:rPr>
              <a:t>2. The points trap</a:t>
            </a:r>
          </a:p>
        </p:txBody>
      </p:sp>
      <p:sp>
        <p:nvSpPr>
          <p:cNvPr id="13" name="TextBox 12"/>
          <p:cNvSpPr txBox="1"/>
          <p:nvPr/>
        </p:nvSpPr>
        <p:spPr>
          <a:xfrm>
            <a:off x="4617720" y="2670048"/>
            <a:ext cx="2788920" cy="2331720"/>
          </a:xfrm>
          <a:prstGeom prst="rect">
            <a:avLst/>
          </a:prstGeom>
          <a:noFill/>
        </p:spPr>
        <p:txBody>
          <a:bodyPr wrap="square" lIns="0" rIns="0" tIns="0" bIns="0" anchor="t">
            <a:spAutoFit/>
          </a:bodyPr>
          <a:lstStyle/>
          <a:p>
            <a:pPr algn="l">
              <a:spcAft>
                <a:spcPts val="600"/>
              </a:spcAft>
            </a:pPr>
            <a:r>
              <a:rPr sz="1500" b="0">
                <a:solidFill>
                  <a:srgbClr val="0B0F1F"/>
                </a:solidFill>
                <a:latin typeface="Calibri"/>
              </a:rPr>
              <a:t>A miss counts like a “no”. It costs 0.12; a yes earns 0.08. Points never come back on their own.</a:t>
            </a:r>
          </a:p>
        </p:txBody>
      </p:sp>
      <p:sp>
        <p:nvSpPr>
          <p:cNvPr id="14" name="TextBox 13"/>
          <p:cNvSpPr txBox="1"/>
          <p:nvPr/>
        </p:nvSpPr>
        <p:spPr>
          <a:xfrm>
            <a:off x="7726679" y="3200400"/>
            <a:ext cx="411480" cy="640080"/>
          </a:xfrm>
          <a:prstGeom prst="rect">
            <a:avLst/>
          </a:prstGeom>
          <a:noFill/>
        </p:spPr>
        <p:txBody>
          <a:bodyPr wrap="square" lIns="0" rIns="0" tIns="0" bIns="0" anchor="t">
            <a:spAutoFit/>
          </a:bodyPr>
          <a:lstStyle/>
          <a:p>
            <a:pPr algn="ctr">
              <a:spcAft>
                <a:spcPts val="600"/>
              </a:spcAft>
            </a:pPr>
            <a:r>
              <a:rPr sz="3600" b="1">
                <a:solidFill>
                  <a:srgbClr val="E3262F"/>
                </a:solidFill>
                <a:latin typeface="Calibri"/>
              </a:rPr>
              <a:t>→</a:t>
            </a:r>
          </a:p>
        </p:txBody>
      </p:sp>
      <p:sp>
        <p:nvSpPr>
          <p:cNvPr id="15" name="Rounded Rectangle 14"/>
          <p:cNvSpPr/>
          <p:nvPr/>
        </p:nvSpPr>
        <p:spPr>
          <a:xfrm>
            <a:off x="8293608" y="2075688"/>
            <a:ext cx="3246120" cy="3108960"/>
          </a:xfrm>
          <a:prstGeom prst="roundRect">
            <a:avLst>
              <a:gd name="adj" fmla="val 8000"/>
            </a:avLst>
          </a:prstGeom>
          <a:solidFill>
            <a:srgbClr val="0B0F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229600" y="2011680"/>
            <a:ext cx="3246120" cy="3108960"/>
          </a:xfrm>
          <a:prstGeom prst="roundRect">
            <a:avLst>
              <a:gd name="adj" fmla="val 8000"/>
            </a:avLst>
          </a:prstGeom>
          <a:solidFill>
            <a:srgbClr val="1F4FD8"/>
          </a:solidFill>
          <a:ln w="28575">
            <a:solidFill>
              <a:srgbClr val="0B0F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458200" y="2194560"/>
            <a:ext cx="2788920" cy="411480"/>
          </a:xfrm>
          <a:prstGeom prst="rect">
            <a:avLst/>
          </a:prstGeom>
          <a:noFill/>
        </p:spPr>
        <p:txBody>
          <a:bodyPr wrap="square" lIns="0" rIns="0" tIns="0" bIns="0" anchor="t">
            <a:spAutoFit/>
          </a:bodyPr>
          <a:lstStyle/>
          <a:p>
            <a:pPr algn="l">
              <a:spcAft>
                <a:spcPts val="600"/>
              </a:spcAft>
            </a:pPr>
            <a:r>
              <a:rPr sz="1600" b="0">
                <a:solidFill>
                  <a:srgbClr val="FFFFFF"/>
                </a:solidFill>
                <a:latin typeface="Arial Black"/>
              </a:rPr>
              <a:t>3. Back of the line</a:t>
            </a:r>
          </a:p>
        </p:txBody>
      </p:sp>
      <p:sp>
        <p:nvSpPr>
          <p:cNvPr id="18" name="TextBox 17"/>
          <p:cNvSpPr txBox="1"/>
          <p:nvPr/>
        </p:nvSpPr>
        <p:spPr>
          <a:xfrm>
            <a:off x="8458200" y="2670048"/>
            <a:ext cx="2788920" cy="2331720"/>
          </a:xfrm>
          <a:prstGeom prst="rect">
            <a:avLst/>
          </a:prstGeom>
          <a:noFill/>
        </p:spPr>
        <p:txBody>
          <a:bodyPr wrap="square" lIns="0" rIns="0" tIns="0" bIns="0" anchor="t">
            <a:spAutoFit/>
          </a:bodyPr>
          <a:lstStyle/>
          <a:p>
            <a:pPr algn="l">
              <a:spcAft>
                <a:spcPts val="600"/>
              </a:spcAft>
            </a:pPr>
            <a:r>
              <a:rPr sz="1500" b="0">
                <a:solidFill>
                  <a:srgbClr val="FFFFFF"/>
                </a:solidFill>
                <a:latin typeface="Calibri"/>
              </a:rPr>
              <a:t>Offers go one at a time. At the back, you’re only asked when everyone ahead says no, so there’s no way up.</a:t>
            </a:r>
          </a:p>
        </p:txBody>
      </p:sp>
      <p:sp>
        <p:nvSpPr>
          <p:cNvPr id="19" name="TextBox 18"/>
          <p:cNvSpPr txBox="1"/>
          <p:nvPr/>
        </p:nvSpPr>
        <p:spPr>
          <a:xfrm>
            <a:off x="548640" y="6400800"/>
            <a:ext cx="9997135" cy="274320"/>
          </a:xfrm>
          <a:prstGeom prst="rect">
            <a:avLst/>
          </a:prstGeom>
          <a:noFill/>
        </p:spPr>
        <p:txBody>
          <a:bodyPr wrap="square" lIns="0" rIns="0" tIns="0" bIns="0" anchor="t">
            <a:spAutoFit/>
          </a:bodyPr>
          <a:lstStyle/>
          <a:p>
            <a:pPr algn="l">
              <a:spcAft>
                <a:spcPts val="600"/>
              </a:spcAft>
            </a:pPr>
            <a:r>
              <a:rPr sz="1100" b="0">
                <a:solidFill>
                  <a:srgbClr val="4D5778"/>
                </a:solidFill>
                <a:latin typeface="Calibri"/>
              </a:rPr>
              <a:t>Source: dispatch-routing code (offer.py:30, history.py, config.py); callout history CSV</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8229600" cy="320040"/>
          </a:xfrm>
          <a:prstGeom prst="rect">
            <a:avLst/>
          </a:prstGeom>
          <a:noFill/>
        </p:spPr>
        <p:txBody>
          <a:bodyPr wrap="square" lIns="0" rIns="0" tIns="0" bIns="0" anchor="t">
            <a:spAutoFit/>
          </a:bodyPr>
          <a:lstStyle/>
          <a:p>
            <a:pPr algn="l">
              <a:spcAft>
                <a:spcPts val="600"/>
              </a:spcAft>
            </a:pPr>
            <a:r>
              <a:rPr sz="1300" b="1">
                <a:solidFill>
                  <a:srgbClr val="E3262F"/>
                </a:solidFill>
                <a:latin typeface="Calibri"/>
              </a:rPr>
              <a:t>WAS IT JUST AUGUST?</a:t>
            </a:r>
          </a:p>
        </p:txBody>
      </p:sp>
      <p:sp>
        <p:nvSpPr>
          <p:cNvPr id="3" name="TextBox 2"/>
          <p:cNvSpPr txBox="1"/>
          <p:nvPr/>
        </p:nvSpPr>
        <p:spPr>
          <a:xfrm>
            <a:off x="548640" y="731520"/>
            <a:ext cx="11094415" cy="822960"/>
          </a:xfrm>
          <a:prstGeom prst="rect">
            <a:avLst/>
          </a:prstGeom>
          <a:noFill/>
        </p:spPr>
        <p:txBody>
          <a:bodyPr wrap="square" lIns="0" rIns="0" tIns="0" bIns="0" anchor="t">
            <a:spAutoFit/>
          </a:bodyPr>
          <a:lstStyle/>
          <a:p>
            <a:pPr algn="l">
              <a:spcAft>
                <a:spcPts val="600"/>
              </a:spcAft>
            </a:pPr>
            <a:r>
              <a:rPr sz="3200" b="0">
                <a:solidFill>
                  <a:srgbClr val="0B0F1F"/>
                </a:solidFill>
                <a:latin typeface="Arial Black"/>
              </a:rPr>
              <a:t>No: same city, opposite fates</a:t>
            </a:r>
          </a:p>
        </p:txBody>
      </p:sp>
      <p:sp>
        <p:nvSpPr>
          <p:cNvPr id="4" name="TextBox 3"/>
          <p:cNvSpPr txBox="1"/>
          <p:nvPr/>
        </p:nvSpPr>
        <p:spPr>
          <a:xfrm>
            <a:off x="10911535" y="6446520"/>
            <a:ext cx="822960" cy="274320"/>
          </a:xfrm>
          <a:prstGeom prst="rect">
            <a:avLst/>
          </a:prstGeom>
          <a:noFill/>
        </p:spPr>
        <p:txBody>
          <a:bodyPr wrap="square" lIns="0" rIns="0" tIns="0" bIns="0" anchor="t">
            <a:spAutoFit/>
          </a:bodyPr>
          <a:lstStyle/>
          <a:p>
            <a:pPr algn="r">
              <a:spcAft>
                <a:spcPts val="600"/>
              </a:spcAft>
            </a:pPr>
            <a:r>
              <a:rPr sz="1100" b="0">
                <a:solidFill>
                  <a:srgbClr val="4D5778"/>
                </a:solidFill>
                <a:latin typeface="Calibri"/>
              </a:rPr>
              <a:t>5 / 13</a:t>
            </a:r>
          </a:p>
        </p:txBody>
      </p:sp>
      <p:sp>
        <p:nvSpPr>
          <p:cNvPr id="5" name="Rounded Rectangle 4"/>
          <p:cNvSpPr/>
          <p:nvPr/>
        </p:nvSpPr>
        <p:spPr>
          <a:xfrm>
            <a:off x="612647" y="1984248"/>
            <a:ext cx="3429000" cy="2651760"/>
          </a:xfrm>
          <a:prstGeom prst="roundRect">
            <a:avLst>
              <a:gd name="adj" fmla="val 8000"/>
            </a:avLst>
          </a:prstGeom>
          <a:solidFill>
            <a:srgbClr val="0B0F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920240"/>
            <a:ext cx="3429000" cy="2651760"/>
          </a:xfrm>
          <a:prstGeom prst="roundRect">
            <a:avLst>
              <a:gd name="adj" fmla="val 8000"/>
            </a:avLst>
          </a:prstGeom>
          <a:solidFill>
            <a:srgbClr val="EEF3FF"/>
          </a:solidFill>
          <a:ln w="28575">
            <a:solidFill>
              <a:srgbClr val="0B0F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2103120"/>
            <a:ext cx="2971800" cy="411480"/>
          </a:xfrm>
          <a:prstGeom prst="rect">
            <a:avLst/>
          </a:prstGeom>
          <a:noFill/>
        </p:spPr>
        <p:txBody>
          <a:bodyPr wrap="square" lIns="0" rIns="0" tIns="0" bIns="0" anchor="t">
            <a:spAutoFit/>
          </a:bodyPr>
          <a:lstStyle/>
          <a:p>
            <a:pPr algn="l">
              <a:spcAft>
                <a:spcPts val="600"/>
              </a:spcAft>
            </a:pPr>
            <a:r>
              <a:rPr sz="1600" b="0">
                <a:solidFill>
                  <a:srgbClr val="0B0F1F"/>
                </a:solidFill>
                <a:latin typeface="Arial Black"/>
              </a:rPr>
              <a:t>No early dip</a:t>
            </a:r>
          </a:p>
        </p:txBody>
      </p:sp>
      <p:sp>
        <p:nvSpPr>
          <p:cNvPr id="8" name="TextBox 7"/>
          <p:cNvSpPr txBox="1"/>
          <p:nvPr/>
        </p:nvSpPr>
        <p:spPr>
          <a:xfrm>
            <a:off x="777240" y="2578608"/>
            <a:ext cx="2971800" cy="1874519"/>
          </a:xfrm>
          <a:prstGeom prst="rect">
            <a:avLst/>
          </a:prstGeom>
          <a:noFill/>
        </p:spPr>
        <p:txBody>
          <a:bodyPr wrap="square" lIns="0" rIns="0" tIns="0" bIns="0" anchor="t">
            <a:spAutoFit/>
          </a:bodyPr>
          <a:lstStyle/>
          <a:p>
            <a:pPr algn="l">
              <a:spcAft>
                <a:spcPts val="600"/>
              </a:spcAft>
            </a:pPr>
            <a:r>
              <a:rPr sz="1500" b="0">
                <a:solidFill>
                  <a:srgbClr val="0B0F1F"/>
                </a:solidFill>
                <a:latin typeface="Calibri"/>
              </a:rPr>
              <a:t>Week of 3 Aug was the summer’s best (78%). The drop came all at once, in the release week.</a:t>
            </a:r>
          </a:p>
        </p:txBody>
      </p:sp>
      <p:sp>
        <p:nvSpPr>
          <p:cNvPr id="9" name="Rounded Rectangle 8"/>
          <p:cNvSpPr/>
          <p:nvPr/>
        </p:nvSpPr>
        <p:spPr>
          <a:xfrm>
            <a:off x="4425696" y="1984248"/>
            <a:ext cx="3429000" cy="2651760"/>
          </a:xfrm>
          <a:prstGeom prst="roundRect">
            <a:avLst>
              <a:gd name="adj" fmla="val 8000"/>
            </a:avLst>
          </a:prstGeom>
          <a:solidFill>
            <a:srgbClr val="0B0F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361688" y="1920240"/>
            <a:ext cx="3429000" cy="2651760"/>
          </a:xfrm>
          <a:prstGeom prst="roundRect">
            <a:avLst>
              <a:gd name="adj" fmla="val 8000"/>
            </a:avLst>
          </a:prstGeom>
          <a:solidFill>
            <a:srgbClr val="EEF3FF"/>
          </a:solidFill>
          <a:ln w="28575">
            <a:solidFill>
              <a:srgbClr val="0B0F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90288" y="2103120"/>
            <a:ext cx="2971800" cy="411480"/>
          </a:xfrm>
          <a:prstGeom prst="rect">
            <a:avLst/>
          </a:prstGeom>
          <a:noFill/>
        </p:spPr>
        <p:txBody>
          <a:bodyPr wrap="square" lIns="0" rIns="0" tIns="0" bIns="0" anchor="t">
            <a:spAutoFit/>
          </a:bodyPr>
          <a:lstStyle/>
          <a:p>
            <a:pPr algn="l">
              <a:spcAft>
                <a:spcPts val="600"/>
              </a:spcAft>
            </a:pPr>
            <a:r>
              <a:rPr sz="1600" b="0">
                <a:solidFill>
                  <a:srgbClr val="0B0F1F"/>
                </a:solidFill>
                <a:latin typeface="Arial Black"/>
              </a:rPr>
              <a:t>Not everyone</a:t>
            </a:r>
          </a:p>
        </p:txBody>
      </p:sp>
      <p:sp>
        <p:nvSpPr>
          <p:cNvPr id="12" name="TextBox 11"/>
          <p:cNvSpPr txBox="1"/>
          <p:nvPr/>
        </p:nvSpPr>
        <p:spPr>
          <a:xfrm>
            <a:off x="4590288" y="2578608"/>
            <a:ext cx="2971800" cy="1874519"/>
          </a:xfrm>
          <a:prstGeom prst="rect">
            <a:avLst/>
          </a:prstGeom>
          <a:noFill/>
        </p:spPr>
        <p:txBody>
          <a:bodyPr wrap="square" lIns="0" rIns="0" tIns="0" bIns="0" anchor="t">
            <a:spAutoFit/>
          </a:bodyPr>
          <a:lstStyle/>
          <a:p>
            <a:pPr algn="l">
              <a:spcAft>
                <a:spcPts val="600"/>
              </a:spcAft>
            </a:pPr>
            <a:r>
              <a:rPr sz="1500" b="0">
                <a:solidFill>
                  <a:srgbClr val="0B0F1F"/>
                </a:solidFill>
                <a:latin typeface="Calibri"/>
              </a:rPr>
              <a:t>12 responders got more work. 4 got almost none. A quiet month doesn’t pick four people.</a:t>
            </a:r>
          </a:p>
        </p:txBody>
      </p:sp>
      <p:sp>
        <p:nvSpPr>
          <p:cNvPr id="13" name="Rounded Rectangle 12"/>
          <p:cNvSpPr/>
          <p:nvPr/>
        </p:nvSpPr>
        <p:spPr>
          <a:xfrm>
            <a:off x="8238744" y="1984248"/>
            <a:ext cx="3429000" cy="2651760"/>
          </a:xfrm>
          <a:prstGeom prst="roundRect">
            <a:avLst>
              <a:gd name="adj" fmla="val 8000"/>
            </a:avLst>
          </a:prstGeom>
          <a:solidFill>
            <a:srgbClr val="0B0F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174736" y="1920240"/>
            <a:ext cx="3429000" cy="2651760"/>
          </a:xfrm>
          <a:prstGeom prst="roundRect">
            <a:avLst>
              <a:gd name="adj" fmla="val 8000"/>
            </a:avLst>
          </a:prstGeom>
          <a:solidFill>
            <a:srgbClr val="FFCC1F"/>
          </a:solidFill>
          <a:ln w="28575">
            <a:solidFill>
              <a:srgbClr val="0B0F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403336" y="2103120"/>
            <a:ext cx="2971800" cy="411480"/>
          </a:xfrm>
          <a:prstGeom prst="rect">
            <a:avLst/>
          </a:prstGeom>
          <a:noFill/>
        </p:spPr>
        <p:txBody>
          <a:bodyPr wrap="square" lIns="0" rIns="0" tIns="0" bIns="0" anchor="t">
            <a:spAutoFit/>
          </a:bodyPr>
          <a:lstStyle/>
          <a:p>
            <a:pPr algn="l">
              <a:spcAft>
                <a:spcPts val="600"/>
              </a:spcAft>
            </a:pPr>
            <a:r>
              <a:rPr sz="1600" b="0">
                <a:solidFill>
                  <a:srgbClr val="0B0F1F"/>
                </a:solidFill>
                <a:latin typeface="Arial Black"/>
              </a:rPr>
              <a:t>Kip’s two</a:t>
            </a:r>
          </a:p>
        </p:txBody>
      </p:sp>
      <p:sp>
        <p:nvSpPr>
          <p:cNvPr id="16" name="TextBox 15"/>
          <p:cNvSpPr txBox="1"/>
          <p:nvPr/>
        </p:nvSpPr>
        <p:spPr>
          <a:xfrm>
            <a:off x="8403336" y="2578608"/>
            <a:ext cx="2971800" cy="1874519"/>
          </a:xfrm>
          <a:prstGeom prst="rect">
            <a:avLst/>
          </a:prstGeom>
          <a:noFill/>
        </p:spPr>
        <p:txBody>
          <a:bodyPr wrap="square" lIns="0" rIns="0" tIns="0" bIns="0" anchor="t">
            <a:spAutoFit/>
          </a:bodyPr>
          <a:lstStyle/>
          <a:p>
            <a:pPr algn="l">
              <a:spcAft>
                <a:spcPts val="600"/>
              </a:spcAft>
            </a:pPr>
            <a:r>
              <a:rPr sz="1500" b="0">
                <a:solidFill>
                  <a:srgbClr val="0B0F1F"/>
                </a:solidFill>
                <a:latin typeface="Calibri"/>
              </a:rPr>
              <a:t>Same handler, same city: Meteor Mite 11 → 1, The Gale 13 → 21.</a:t>
            </a:r>
          </a:p>
        </p:txBody>
      </p:sp>
      <p:sp>
        <p:nvSpPr>
          <p:cNvPr id="17" name="TextBox 16"/>
          <p:cNvSpPr txBox="1"/>
          <p:nvPr/>
        </p:nvSpPr>
        <p:spPr>
          <a:xfrm>
            <a:off x="548640" y="4983480"/>
            <a:ext cx="10972800" cy="457200"/>
          </a:xfrm>
          <a:prstGeom prst="rect">
            <a:avLst/>
          </a:prstGeom>
          <a:noFill/>
        </p:spPr>
        <p:txBody>
          <a:bodyPr wrap="square" lIns="0" rIns="0" tIns="0" bIns="0" anchor="t">
            <a:spAutoFit/>
          </a:bodyPr>
          <a:lstStyle/>
          <a:p>
            <a:pPr algn="l">
              <a:spcAft>
                <a:spcPts val="600"/>
              </a:spcAft>
            </a:pPr>
            <a:r>
              <a:rPr sz="1800" b="0">
                <a:solidFill>
                  <a:srgbClr val="4D5778"/>
                </a:solidFill>
                <a:latin typeface="Calibri"/>
              </a:rPr>
              <a:t>August explains 0% of the collapse, and at most ~30% of the lower volume after it.</a:t>
            </a:r>
          </a:p>
        </p:txBody>
      </p:sp>
      <p:sp>
        <p:nvSpPr>
          <p:cNvPr id="18" name="TextBox 17"/>
          <p:cNvSpPr txBox="1"/>
          <p:nvPr/>
        </p:nvSpPr>
        <p:spPr>
          <a:xfrm>
            <a:off x="548640" y="6400800"/>
            <a:ext cx="9997135" cy="274320"/>
          </a:xfrm>
          <a:prstGeom prst="rect">
            <a:avLst/>
          </a:prstGeom>
          <a:noFill/>
        </p:spPr>
        <p:txBody>
          <a:bodyPr wrap="square" lIns="0" rIns="0" tIns="0" bIns="0" anchor="t">
            <a:spAutoFit/>
          </a:bodyPr>
          <a:lstStyle/>
          <a:p>
            <a:pPr algn="l">
              <a:spcAft>
                <a:spcPts val="600"/>
              </a:spcAft>
            </a:pPr>
            <a:r>
              <a:rPr sz="1100" b="0">
                <a:solidFill>
                  <a:srgbClr val="4D5778"/>
                </a:solidFill>
                <a:latin typeface="Calibri"/>
              </a:rPr>
              <a:t>Source: callout history CSV; four-analyst root-cause review</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8229600" cy="320040"/>
          </a:xfrm>
          <a:prstGeom prst="rect">
            <a:avLst/>
          </a:prstGeom>
          <a:noFill/>
        </p:spPr>
        <p:txBody>
          <a:bodyPr wrap="square" lIns="0" rIns="0" tIns="0" bIns="0" anchor="t">
            <a:spAutoFit/>
          </a:bodyPr>
          <a:lstStyle/>
          <a:p>
            <a:pPr algn="l">
              <a:spcAft>
                <a:spcPts val="600"/>
              </a:spcAft>
            </a:pPr>
            <a:r>
              <a:rPr sz="1300" b="1">
                <a:solidFill>
                  <a:srgbClr val="E3262F"/>
                </a:solidFill>
                <a:latin typeface="Calibri"/>
              </a:rPr>
              <a:t>WHY NOBODY SAW IT</a:t>
            </a:r>
          </a:p>
        </p:txBody>
      </p:sp>
      <p:sp>
        <p:nvSpPr>
          <p:cNvPr id="3" name="TextBox 2"/>
          <p:cNvSpPr txBox="1"/>
          <p:nvPr/>
        </p:nvSpPr>
        <p:spPr>
          <a:xfrm>
            <a:off x="548640" y="731520"/>
            <a:ext cx="11094415" cy="822960"/>
          </a:xfrm>
          <a:prstGeom prst="rect">
            <a:avLst/>
          </a:prstGeom>
          <a:noFill/>
        </p:spPr>
        <p:txBody>
          <a:bodyPr wrap="square" lIns="0" rIns="0" tIns="0" bIns="0" anchor="t">
            <a:spAutoFit/>
          </a:bodyPr>
          <a:lstStyle/>
          <a:p>
            <a:pPr algn="l">
              <a:spcAft>
                <a:spcPts val="600"/>
              </a:spcAft>
            </a:pPr>
            <a:r>
              <a:rPr sz="3200" b="0">
                <a:solidFill>
                  <a:srgbClr val="0B0F1F"/>
                </a:solidFill>
                <a:latin typeface="Arial Black"/>
              </a:rPr>
              <a:t>The dashboard said “recovered”</a:t>
            </a:r>
          </a:p>
        </p:txBody>
      </p:sp>
      <p:sp>
        <p:nvSpPr>
          <p:cNvPr id="4" name="TextBox 3"/>
          <p:cNvSpPr txBox="1"/>
          <p:nvPr/>
        </p:nvSpPr>
        <p:spPr>
          <a:xfrm>
            <a:off x="10911535" y="6446520"/>
            <a:ext cx="822960" cy="274320"/>
          </a:xfrm>
          <a:prstGeom prst="rect">
            <a:avLst/>
          </a:prstGeom>
          <a:noFill/>
        </p:spPr>
        <p:txBody>
          <a:bodyPr wrap="square" lIns="0" rIns="0" tIns="0" bIns="0" anchor="t">
            <a:spAutoFit/>
          </a:bodyPr>
          <a:lstStyle/>
          <a:p>
            <a:pPr algn="r">
              <a:spcAft>
                <a:spcPts val="600"/>
              </a:spcAft>
            </a:pPr>
            <a:r>
              <a:rPr sz="1100" b="0">
                <a:solidFill>
                  <a:srgbClr val="4D5778"/>
                </a:solidFill>
                <a:latin typeface="Calibri"/>
              </a:rPr>
              <a:t>6 / 13</a:t>
            </a:r>
          </a:p>
        </p:txBody>
      </p:sp>
      <p:sp>
        <p:nvSpPr>
          <p:cNvPr id="5" name="Rounded Rectangle 4"/>
          <p:cNvSpPr/>
          <p:nvPr/>
        </p:nvSpPr>
        <p:spPr>
          <a:xfrm>
            <a:off x="612647" y="1984248"/>
            <a:ext cx="3429000" cy="2926080"/>
          </a:xfrm>
          <a:prstGeom prst="roundRect">
            <a:avLst>
              <a:gd name="adj" fmla="val 8000"/>
            </a:avLst>
          </a:prstGeom>
          <a:solidFill>
            <a:srgbClr val="0B0F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920240"/>
            <a:ext cx="3429000" cy="2926080"/>
          </a:xfrm>
          <a:prstGeom prst="roundRect">
            <a:avLst>
              <a:gd name="adj" fmla="val 8000"/>
            </a:avLst>
          </a:prstGeom>
          <a:solidFill>
            <a:srgbClr val="1F4FD8"/>
          </a:solidFill>
          <a:ln w="28575">
            <a:solidFill>
              <a:srgbClr val="0B0F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2103120"/>
            <a:ext cx="2971800" cy="411480"/>
          </a:xfrm>
          <a:prstGeom prst="rect">
            <a:avLst/>
          </a:prstGeom>
          <a:noFill/>
        </p:spPr>
        <p:txBody>
          <a:bodyPr wrap="square" lIns="0" rIns="0" tIns="0" bIns="0" anchor="t">
            <a:spAutoFit/>
          </a:bodyPr>
          <a:lstStyle/>
          <a:p>
            <a:pPr algn="l">
              <a:spcAft>
                <a:spcPts val="600"/>
              </a:spcAft>
            </a:pPr>
            <a:r>
              <a:rPr sz="1600" b="0">
                <a:solidFill>
                  <a:srgbClr val="FFFFFF"/>
                </a:solidFill>
                <a:latin typeface="Arial Black"/>
              </a:rPr>
              <a:t>73% “recovered”</a:t>
            </a:r>
          </a:p>
        </p:txBody>
      </p:sp>
      <p:sp>
        <p:nvSpPr>
          <p:cNvPr id="8" name="TextBox 7"/>
          <p:cNvSpPr txBox="1"/>
          <p:nvPr/>
        </p:nvSpPr>
        <p:spPr>
          <a:xfrm>
            <a:off x="777240" y="2578608"/>
            <a:ext cx="2971800" cy="2148840"/>
          </a:xfrm>
          <a:prstGeom prst="rect">
            <a:avLst/>
          </a:prstGeom>
          <a:noFill/>
        </p:spPr>
        <p:txBody>
          <a:bodyPr wrap="square" lIns="0" rIns="0" tIns="0" bIns="0" anchor="t">
            <a:spAutoFit/>
          </a:bodyPr>
          <a:lstStyle/>
          <a:p>
            <a:pPr algn="l">
              <a:spcAft>
                <a:spcPts val="600"/>
              </a:spcAft>
            </a:pPr>
            <a:r>
              <a:rPr sz="1500" b="0">
                <a:solidFill>
                  <a:srgbClr val="FFFFFF"/>
                </a:solidFill>
                <a:latin typeface="Calibri"/>
              </a:rPr>
              <a:t>Acceptance looks almost normal because the stuck four stopped being asked. Callouts filled are still 9% down.</a:t>
            </a:r>
          </a:p>
        </p:txBody>
      </p:sp>
      <p:sp>
        <p:nvSpPr>
          <p:cNvPr id="9" name="Rounded Rectangle 8"/>
          <p:cNvSpPr/>
          <p:nvPr/>
        </p:nvSpPr>
        <p:spPr>
          <a:xfrm>
            <a:off x="4425696" y="1984248"/>
            <a:ext cx="3429000" cy="2926080"/>
          </a:xfrm>
          <a:prstGeom prst="roundRect">
            <a:avLst>
              <a:gd name="adj" fmla="val 8000"/>
            </a:avLst>
          </a:prstGeom>
          <a:solidFill>
            <a:srgbClr val="0B0F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361688" y="1920240"/>
            <a:ext cx="3429000" cy="2926080"/>
          </a:xfrm>
          <a:prstGeom prst="roundRect">
            <a:avLst>
              <a:gd name="adj" fmla="val 8000"/>
            </a:avLst>
          </a:prstGeom>
          <a:solidFill>
            <a:srgbClr val="FFCC1F"/>
          </a:solidFill>
          <a:ln w="28575">
            <a:solidFill>
              <a:srgbClr val="0B0F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90288" y="2103120"/>
            <a:ext cx="2971800" cy="411480"/>
          </a:xfrm>
          <a:prstGeom prst="rect">
            <a:avLst/>
          </a:prstGeom>
          <a:noFill/>
        </p:spPr>
        <p:txBody>
          <a:bodyPr wrap="square" lIns="0" rIns="0" tIns="0" bIns="0" anchor="t">
            <a:spAutoFit/>
          </a:bodyPr>
          <a:lstStyle/>
          <a:p>
            <a:pPr algn="l">
              <a:spcAft>
                <a:spcPts val="600"/>
              </a:spcAft>
            </a:pPr>
            <a:r>
              <a:rPr sz="1600" b="0">
                <a:solidFill>
                  <a:srgbClr val="0B0F1F"/>
                </a:solidFill>
                <a:latin typeface="Arial Black"/>
              </a:rPr>
              <a:t>40% of tickets</a:t>
            </a:r>
          </a:p>
        </p:txBody>
      </p:sp>
      <p:sp>
        <p:nvSpPr>
          <p:cNvPr id="12" name="TextBox 11"/>
          <p:cNvSpPr txBox="1"/>
          <p:nvPr/>
        </p:nvSpPr>
        <p:spPr>
          <a:xfrm>
            <a:off x="4590288" y="2578608"/>
            <a:ext cx="2971800" cy="2148840"/>
          </a:xfrm>
          <a:prstGeom prst="rect">
            <a:avLst/>
          </a:prstGeom>
          <a:noFill/>
        </p:spPr>
        <p:txBody>
          <a:bodyPr wrap="square" lIns="0" rIns="0" tIns="0" bIns="0" anchor="t">
            <a:spAutoFit/>
          </a:bodyPr>
          <a:lstStyle/>
          <a:p>
            <a:pPr algn="l">
              <a:spcAft>
                <a:spcPts val="600"/>
              </a:spcAft>
            </a:pPr>
            <a:r>
              <a:rPr sz="1500" b="0">
                <a:solidFill>
                  <a:srgbClr val="0B0F1F"/>
                </a:solidFill>
                <a:latin typeface="Calibri"/>
              </a:rPr>
              <a:t>ask “is my account broken?” Missed offers vanish from the phone with no trace.</a:t>
            </a:r>
          </a:p>
        </p:txBody>
      </p:sp>
      <p:sp>
        <p:nvSpPr>
          <p:cNvPr id="13" name="Rounded Rectangle 12"/>
          <p:cNvSpPr/>
          <p:nvPr/>
        </p:nvSpPr>
        <p:spPr>
          <a:xfrm>
            <a:off x="8238744" y="1984248"/>
            <a:ext cx="3429000" cy="2926080"/>
          </a:xfrm>
          <a:prstGeom prst="roundRect">
            <a:avLst>
              <a:gd name="adj" fmla="val 8000"/>
            </a:avLst>
          </a:prstGeom>
          <a:solidFill>
            <a:srgbClr val="0B0F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174736" y="1920240"/>
            <a:ext cx="3429000" cy="2926080"/>
          </a:xfrm>
          <a:prstGeom prst="roundRect">
            <a:avLst>
              <a:gd name="adj" fmla="val 8000"/>
            </a:avLst>
          </a:prstGeom>
          <a:solidFill>
            <a:srgbClr val="E3262F"/>
          </a:solidFill>
          <a:ln w="28575">
            <a:solidFill>
              <a:srgbClr val="0B0F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403336" y="2103120"/>
            <a:ext cx="2971800" cy="411480"/>
          </a:xfrm>
          <a:prstGeom prst="rect">
            <a:avLst/>
          </a:prstGeom>
          <a:noFill/>
        </p:spPr>
        <p:txBody>
          <a:bodyPr wrap="square" lIns="0" rIns="0" tIns="0" bIns="0" anchor="t">
            <a:spAutoFit/>
          </a:bodyPr>
          <a:lstStyle/>
          <a:p>
            <a:pPr algn="l">
              <a:spcAft>
                <a:spcPts val="600"/>
              </a:spcAft>
            </a:pPr>
            <a:r>
              <a:rPr sz="1600" b="0">
                <a:solidFill>
                  <a:srgbClr val="FFFFFF"/>
                </a:solidFill>
                <a:latin typeface="Arial Black"/>
              </a:rPr>
              <a:t>2 of 4 silent</a:t>
            </a:r>
          </a:p>
        </p:txBody>
      </p:sp>
      <p:sp>
        <p:nvSpPr>
          <p:cNvPr id="16" name="TextBox 15"/>
          <p:cNvSpPr txBox="1"/>
          <p:nvPr/>
        </p:nvSpPr>
        <p:spPr>
          <a:xfrm>
            <a:off x="8403336" y="2578608"/>
            <a:ext cx="2971800" cy="2148840"/>
          </a:xfrm>
          <a:prstGeom prst="rect">
            <a:avLst/>
          </a:prstGeom>
          <a:noFill/>
        </p:spPr>
        <p:txBody>
          <a:bodyPr wrap="square" lIns="0" rIns="0" tIns="0" bIns="0" anchor="t">
            <a:spAutoFit/>
          </a:bodyPr>
          <a:lstStyle/>
          <a:p>
            <a:pPr algn="l">
              <a:spcAft>
                <a:spcPts val="600"/>
              </a:spcAft>
            </a:pPr>
            <a:r>
              <a:rPr sz="1500" b="0">
                <a:solidFill>
                  <a:srgbClr val="FFFFFF"/>
                </a:solidFill>
                <a:latin typeface="Calibri"/>
              </a:rPr>
              <a:t>Mite and Vesper never filed a ticket. They surfaced only in design interviews.</a:t>
            </a:r>
          </a:p>
        </p:txBody>
      </p:sp>
      <p:sp>
        <p:nvSpPr>
          <p:cNvPr id="17" name="TextBox 16"/>
          <p:cNvSpPr txBox="1"/>
          <p:nvPr/>
        </p:nvSpPr>
        <p:spPr>
          <a:xfrm>
            <a:off x="548640" y="6400800"/>
            <a:ext cx="9997135" cy="274320"/>
          </a:xfrm>
          <a:prstGeom prst="rect">
            <a:avLst/>
          </a:prstGeom>
          <a:noFill/>
        </p:spPr>
        <p:txBody>
          <a:bodyPr wrap="square" lIns="0" rIns="0" tIns="0" bIns="0" anchor="t">
            <a:spAutoFit/>
          </a:bodyPr>
          <a:lstStyle/>
          <a:p>
            <a:pPr algn="l">
              <a:spcAft>
                <a:spcPts val="600"/>
              </a:spcAft>
            </a:pPr>
            <a:r>
              <a:rPr sz="1100" b="0">
                <a:solidFill>
                  <a:srgbClr val="4D5778"/>
                </a:solidFill>
                <a:latin typeface="Calibri"/>
              </a:rPr>
              <a:t>Source: callout history CSV; 25 support tickets; Sofia's handler interviews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8229600" cy="320040"/>
          </a:xfrm>
          <a:prstGeom prst="rect">
            <a:avLst/>
          </a:prstGeom>
          <a:noFill/>
        </p:spPr>
        <p:txBody>
          <a:bodyPr wrap="square" lIns="0" rIns="0" tIns="0" bIns="0" anchor="t">
            <a:spAutoFit/>
          </a:bodyPr>
          <a:lstStyle/>
          <a:p>
            <a:pPr algn="l">
              <a:spcAft>
                <a:spcPts val="600"/>
              </a:spcAft>
            </a:pPr>
            <a:r>
              <a:rPr sz="1300" b="1">
                <a:solidFill>
                  <a:srgbClr val="E3262F"/>
                </a:solidFill>
                <a:latin typeface="Calibri"/>
              </a:rPr>
              <a:t>ROOT CAUSE, AND HOW SURE WE ARE</a:t>
            </a:r>
          </a:p>
        </p:txBody>
      </p:sp>
      <p:sp>
        <p:nvSpPr>
          <p:cNvPr id="3" name="TextBox 2"/>
          <p:cNvSpPr txBox="1"/>
          <p:nvPr/>
        </p:nvSpPr>
        <p:spPr>
          <a:xfrm>
            <a:off x="548640" y="731520"/>
            <a:ext cx="11094415" cy="822960"/>
          </a:xfrm>
          <a:prstGeom prst="rect">
            <a:avLst/>
          </a:prstGeom>
          <a:noFill/>
        </p:spPr>
        <p:txBody>
          <a:bodyPr wrap="square" lIns="0" rIns="0" tIns="0" bIns="0" anchor="t">
            <a:spAutoFit/>
          </a:bodyPr>
          <a:lstStyle/>
          <a:p>
            <a:pPr algn="l">
              <a:spcAft>
                <a:spcPts val="600"/>
              </a:spcAft>
            </a:pPr>
            <a:r>
              <a:rPr sz="3200" b="0">
                <a:solidFill>
                  <a:srgbClr val="0B0F1F"/>
                </a:solidFill>
                <a:latin typeface="Arial Black"/>
              </a:rPr>
              <a:t>What we know, and what's still open</a:t>
            </a:r>
          </a:p>
        </p:txBody>
      </p:sp>
      <p:sp>
        <p:nvSpPr>
          <p:cNvPr id="4" name="TextBox 3"/>
          <p:cNvSpPr txBox="1"/>
          <p:nvPr/>
        </p:nvSpPr>
        <p:spPr>
          <a:xfrm>
            <a:off x="10911535" y="6446520"/>
            <a:ext cx="822960" cy="274320"/>
          </a:xfrm>
          <a:prstGeom prst="rect">
            <a:avLst/>
          </a:prstGeom>
          <a:noFill/>
        </p:spPr>
        <p:txBody>
          <a:bodyPr wrap="square" lIns="0" rIns="0" tIns="0" bIns="0" anchor="t">
            <a:spAutoFit/>
          </a:bodyPr>
          <a:lstStyle/>
          <a:p>
            <a:pPr algn="r">
              <a:spcAft>
                <a:spcPts val="600"/>
              </a:spcAft>
            </a:pPr>
            <a:r>
              <a:rPr sz="1100" b="0">
                <a:solidFill>
                  <a:srgbClr val="4D5778"/>
                </a:solidFill>
                <a:latin typeface="Calibri"/>
              </a:rPr>
              <a:t>7 / 13</a:t>
            </a:r>
          </a:p>
        </p:txBody>
      </p:sp>
      <p:graphicFrame>
        <p:nvGraphicFramePr>
          <p:cNvPr id="5" name="Table 4"/>
          <p:cNvGraphicFramePr>
            <a:graphicFrameLocks noGrp="1"/>
          </p:cNvGraphicFramePr>
          <p:nvPr/>
        </p:nvGraphicFramePr>
        <p:xfrm>
          <a:off x="548640" y="1828800"/>
          <a:ext cx="11064240" cy="2286000"/>
        </p:xfrm>
        <a:graphic>
          <a:graphicData uri="http://schemas.openxmlformats.org/drawingml/2006/table">
            <a:tbl>
              <a:tblPr firstRow="1" bandRow="1">
                <a:tableStyleId>{5C22544A-7EE6-4342-B048-85BDC9FD1C3A}</a:tableStyleId>
              </a:tblPr>
              <a:tblGrid>
                <a:gridCol w="8778240"/>
                <a:gridCol w="2286000"/>
              </a:tblGrid>
              <a:tr h="457200">
                <a:tc>
                  <a:txBody>
                    <a:bodyPr wrap="square"/>
                    <a:lstStyle/>
                    <a:p>
                      <a:r>
                        <a:rPr sz="1300" b="1">
                          <a:solidFill>
                            <a:srgbClr val="FFFFFF"/>
                          </a:solidFill>
                          <a:latin typeface="Calibri"/>
                        </a:rPr>
                        <a:t>Finding</a:t>
                      </a:r>
                    </a:p>
                  </a:txBody>
                  <a:tcPr>
                    <a:solidFill>
                      <a:srgbClr val="0B0F1F"/>
                    </a:solidFill>
                  </a:tcPr>
                </a:tc>
                <a:tc>
                  <a:txBody>
                    <a:bodyPr wrap="square"/>
                    <a:lstStyle/>
                    <a:p>
                      <a:r>
                        <a:rPr sz="1300" b="1">
                          <a:solidFill>
                            <a:srgbClr val="FFFFFF"/>
                          </a:solidFill>
                          <a:latin typeface="Calibri"/>
                        </a:rPr>
                        <a:t>Confidence</a:t>
                      </a:r>
                    </a:p>
                  </a:txBody>
                  <a:tcPr>
                    <a:solidFill>
                      <a:srgbClr val="0B0F1F"/>
                    </a:solidFill>
                  </a:tcPr>
                </a:tc>
              </a:tr>
              <a:tr h="457200">
                <a:tc>
                  <a:txBody>
                    <a:bodyPr wrap="square"/>
                    <a:lstStyle/>
                    <a:p>
                      <a:r>
                        <a:rPr sz="1800" b="0">
                          <a:solidFill>
                            <a:srgbClr val="0B0F1F"/>
                          </a:solidFill>
                          <a:latin typeface="Calibri"/>
                        </a:rPr>
                        <a:t>The scoring rules lock out anyone who keeps missing</a:t>
                      </a:r>
                    </a:p>
                  </a:txBody>
                  <a:tcPr>
                    <a:solidFill>
                      <a:srgbClr val="EEF3FF"/>
                    </a:solidFill>
                  </a:tcPr>
                </a:tc>
                <a:tc>
                  <a:txBody>
                    <a:bodyPr wrap="square"/>
                    <a:lstStyle/>
                    <a:p>
                      <a:r>
                        <a:rPr sz="1800" b="0">
                          <a:solidFill>
                            <a:srgbClr val="0B0F1F"/>
                          </a:solidFill>
                          <a:latin typeface="Calibri"/>
                        </a:rPr>
                        <a:t>High</a:t>
                      </a:r>
                    </a:p>
                  </a:txBody>
                  <a:tcPr>
                    <a:solidFill>
                      <a:srgbClr val="EEF3FF"/>
                    </a:solidFill>
                  </a:tcPr>
                </a:tc>
              </a:tr>
              <a:tr h="457200">
                <a:tc>
                  <a:txBody>
                    <a:bodyPr wrap="square"/>
                    <a:lstStyle/>
                    <a:p>
                      <a:r>
                        <a:rPr sz="1800" b="0">
                          <a:solidFill>
                            <a:srgbClr val="0B0F1F"/>
                          </a:solidFill>
                          <a:latin typeface="Calibri"/>
                        </a:rPr>
                        <a:t>The 60-second timer triggered the bad week</a:t>
                      </a:r>
                    </a:p>
                  </a:txBody>
                  <a:tcPr>
                    <a:solidFill>
                      <a:srgbClr val="FFFFFF"/>
                    </a:solidFill>
                  </a:tcPr>
                </a:tc>
                <a:tc>
                  <a:txBody>
                    <a:bodyPr wrap="square"/>
                    <a:lstStyle/>
                    <a:p>
                      <a:r>
                        <a:rPr sz="1800" b="0">
                          <a:solidFill>
                            <a:srgbClr val="0B0F1F"/>
                          </a:solidFill>
                          <a:latin typeface="Calibri"/>
                        </a:rPr>
                        <a:t>Medium</a:t>
                      </a:r>
                    </a:p>
                  </a:txBody>
                  <a:tcPr>
                    <a:solidFill>
                      <a:srgbClr val="FFFFFF"/>
                    </a:solidFill>
                  </a:tcPr>
                </a:tc>
              </a:tr>
              <a:tr h="457200">
                <a:tc>
                  <a:txBody>
                    <a:bodyPr wrap="square"/>
                    <a:lstStyle/>
                    <a:p>
                      <a:r>
                        <a:rPr sz="1800" b="0">
                          <a:solidFill>
                            <a:srgbClr val="0B0F1F"/>
                          </a:solidFill>
                          <a:latin typeface="Calibri"/>
                        </a:rPr>
                        <a:t>The closeness reweight moved work between others; it didn't cause the collapse</a:t>
                      </a:r>
                    </a:p>
                  </a:txBody>
                  <a:tcPr>
                    <a:solidFill>
                      <a:srgbClr val="EEF3FF"/>
                    </a:solidFill>
                  </a:tcPr>
                </a:tc>
                <a:tc>
                  <a:txBody>
                    <a:bodyPr wrap="square"/>
                    <a:lstStyle/>
                    <a:p>
                      <a:r>
                        <a:rPr sz="1800" b="0">
                          <a:solidFill>
                            <a:srgbClr val="0B0F1F"/>
                          </a:solidFill>
                          <a:latin typeface="Calibri"/>
                        </a:rPr>
                        <a:t>Medium</a:t>
                      </a:r>
                    </a:p>
                  </a:txBody>
                  <a:tcPr>
                    <a:solidFill>
                      <a:srgbClr val="EEF3FF"/>
                    </a:solidFill>
                  </a:tcPr>
                </a:tc>
              </a:tr>
              <a:tr h="457200">
                <a:tc>
                  <a:txBody>
                    <a:bodyPr wrap="square"/>
                    <a:lstStyle/>
                    <a:p>
                      <a:r>
                        <a:rPr sz="1800" b="0">
                          <a:solidFill>
                            <a:srgbClr val="0B0F1F"/>
                          </a:solidFill>
                          <a:latin typeface="Calibri"/>
                        </a:rPr>
                        <a:t>Open: why those four kept missing (timer too short, phones late, or choice)</a:t>
                      </a:r>
                    </a:p>
                  </a:txBody>
                  <a:tcPr>
                    <a:solidFill>
                      <a:srgbClr val="FFFFFF"/>
                    </a:solidFill>
                  </a:tcPr>
                </a:tc>
                <a:tc>
                  <a:txBody>
                    <a:bodyPr wrap="square"/>
                    <a:lstStyle/>
                    <a:p>
                      <a:r>
                        <a:rPr sz="1800" b="0">
                          <a:solidFill>
                            <a:srgbClr val="0B0F1F"/>
                          </a:solidFill>
                          <a:latin typeface="Calibri"/>
                        </a:rPr>
                        <a:t>Low</a:t>
                      </a:r>
                    </a:p>
                  </a:txBody>
                  <a:tcPr>
                    <a:solidFill>
                      <a:srgbClr val="FFFFFF"/>
                    </a:solidFill>
                  </a:tcPr>
                </a:tc>
              </a:tr>
            </a:tbl>
          </a:graphicData>
        </a:graphic>
      </p:graphicFrame>
      <p:sp>
        <p:nvSpPr>
          <p:cNvPr id="6" name="TextBox 5"/>
          <p:cNvSpPr txBox="1"/>
          <p:nvPr/>
        </p:nvSpPr>
        <p:spPr>
          <a:xfrm>
            <a:off x="548640" y="6400800"/>
            <a:ext cx="9997135" cy="274320"/>
          </a:xfrm>
          <a:prstGeom prst="rect">
            <a:avLst/>
          </a:prstGeom>
          <a:noFill/>
        </p:spPr>
        <p:txBody>
          <a:bodyPr wrap="square" lIns="0" rIns="0" tIns="0" bIns="0" anchor="t">
            <a:spAutoFit/>
          </a:bodyPr>
          <a:lstStyle/>
          <a:p>
            <a:pPr algn="l">
              <a:spcAft>
                <a:spcPts val="600"/>
              </a:spcAft>
            </a:pPr>
            <a:r>
              <a:rPr sz="1100" b="0">
                <a:solidFill>
                  <a:srgbClr val="4D5778"/>
                </a:solidFill>
                <a:latin typeface="Calibri"/>
              </a:rPr>
              <a:t>Source: four-analyst root-cause debate; hypotheses #1–#11 in the analysis file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8229600" cy="320040"/>
          </a:xfrm>
          <a:prstGeom prst="rect">
            <a:avLst/>
          </a:prstGeom>
          <a:noFill/>
        </p:spPr>
        <p:txBody>
          <a:bodyPr wrap="square" lIns="0" rIns="0" tIns="0" bIns="0" anchor="t">
            <a:spAutoFit/>
          </a:bodyPr>
          <a:lstStyle/>
          <a:p>
            <a:pPr algn="l">
              <a:spcAft>
                <a:spcPts val="600"/>
              </a:spcAft>
            </a:pPr>
            <a:r>
              <a:rPr sz="1300" b="1">
                <a:solidFill>
                  <a:srgbClr val="E3262F"/>
                </a:solidFill>
                <a:latin typeface="Calibri"/>
              </a:rPr>
              <a:t>WHAT WE'D BUILD</a:t>
            </a:r>
          </a:p>
        </p:txBody>
      </p:sp>
      <p:sp>
        <p:nvSpPr>
          <p:cNvPr id="3" name="TextBox 2"/>
          <p:cNvSpPr txBox="1"/>
          <p:nvPr/>
        </p:nvSpPr>
        <p:spPr>
          <a:xfrm>
            <a:off x="548640" y="731520"/>
            <a:ext cx="11094415" cy="822960"/>
          </a:xfrm>
          <a:prstGeom prst="rect">
            <a:avLst/>
          </a:prstGeom>
          <a:noFill/>
        </p:spPr>
        <p:txBody>
          <a:bodyPr wrap="square" lIns="0" rIns="0" tIns="0" bIns="0" anchor="t">
            <a:spAutoFit/>
          </a:bodyPr>
          <a:lstStyle/>
          <a:p>
            <a:pPr algn="l">
              <a:spcAft>
                <a:spcPts val="600"/>
              </a:spcAft>
            </a:pPr>
            <a:r>
              <a:rPr sz="3200" b="0">
                <a:solidFill>
                  <a:srgbClr val="0B0F1F"/>
                </a:solidFill>
                <a:latin typeface="Arial Black"/>
              </a:rPr>
              <a:t>Rook Signal: six changes</a:t>
            </a:r>
          </a:p>
        </p:txBody>
      </p:sp>
      <p:sp>
        <p:nvSpPr>
          <p:cNvPr id="4" name="TextBox 3"/>
          <p:cNvSpPr txBox="1"/>
          <p:nvPr/>
        </p:nvSpPr>
        <p:spPr>
          <a:xfrm>
            <a:off x="10911535" y="6446520"/>
            <a:ext cx="822960" cy="274320"/>
          </a:xfrm>
          <a:prstGeom prst="rect">
            <a:avLst/>
          </a:prstGeom>
          <a:noFill/>
        </p:spPr>
        <p:txBody>
          <a:bodyPr wrap="square" lIns="0" rIns="0" tIns="0" bIns="0" anchor="t">
            <a:spAutoFit/>
          </a:bodyPr>
          <a:lstStyle/>
          <a:p>
            <a:pPr algn="r">
              <a:spcAft>
                <a:spcPts val="600"/>
              </a:spcAft>
            </a:pPr>
            <a:r>
              <a:rPr sz="1100" b="0">
                <a:solidFill>
                  <a:srgbClr val="4D5778"/>
                </a:solidFill>
                <a:latin typeface="Calibri"/>
              </a:rPr>
              <a:t>8 / 13</a:t>
            </a:r>
          </a:p>
        </p:txBody>
      </p:sp>
      <p:sp>
        <p:nvSpPr>
          <p:cNvPr id="5" name="Rounded Rectangle 4"/>
          <p:cNvSpPr/>
          <p:nvPr/>
        </p:nvSpPr>
        <p:spPr>
          <a:xfrm>
            <a:off x="612647" y="1847088"/>
            <a:ext cx="3429000" cy="1874519"/>
          </a:xfrm>
          <a:prstGeom prst="roundRect">
            <a:avLst>
              <a:gd name="adj" fmla="val 8000"/>
            </a:avLst>
          </a:prstGeom>
          <a:solidFill>
            <a:srgbClr val="0B0F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783080"/>
            <a:ext cx="3429000" cy="1874519"/>
          </a:xfrm>
          <a:prstGeom prst="roundRect">
            <a:avLst>
              <a:gd name="adj" fmla="val 8000"/>
            </a:avLst>
          </a:prstGeom>
          <a:solidFill>
            <a:srgbClr val="EEF3FF"/>
          </a:solidFill>
          <a:ln w="28575">
            <a:solidFill>
              <a:srgbClr val="0B0F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965960"/>
            <a:ext cx="2971800" cy="411480"/>
          </a:xfrm>
          <a:prstGeom prst="rect">
            <a:avLst/>
          </a:prstGeom>
          <a:noFill/>
        </p:spPr>
        <p:txBody>
          <a:bodyPr wrap="square" lIns="0" rIns="0" tIns="0" bIns="0" anchor="t">
            <a:spAutoFit/>
          </a:bodyPr>
          <a:lstStyle/>
          <a:p>
            <a:pPr algn="l">
              <a:spcAft>
                <a:spcPts val="600"/>
              </a:spcAft>
            </a:pPr>
            <a:r>
              <a:rPr sz="1600" b="0">
                <a:solidFill>
                  <a:srgbClr val="0B0F1F"/>
                </a:solidFill>
                <a:latin typeface="Arial Black"/>
              </a:rPr>
              <a:t>1. Missing isn’t “no”</a:t>
            </a:r>
          </a:p>
        </p:txBody>
      </p:sp>
      <p:sp>
        <p:nvSpPr>
          <p:cNvPr id="8" name="TextBox 7"/>
          <p:cNvSpPr txBox="1"/>
          <p:nvPr/>
        </p:nvSpPr>
        <p:spPr>
          <a:xfrm>
            <a:off x="777240" y="2441448"/>
            <a:ext cx="2971800" cy="1097279"/>
          </a:xfrm>
          <a:prstGeom prst="rect">
            <a:avLst/>
          </a:prstGeom>
          <a:noFill/>
        </p:spPr>
        <p:txBody>
          <a:bodyPr wrap="square" lIns="0" rIns="0" tIns="0" bIns="0" anchor="t">
            <a:spAutoFit/>
          </a:bodyPr>
          <a:lstStyle/>
          <a:p>
            <a:pPr algn="l">
              <a:spcAft>
                <a:spcPts val="600"/>
              </a:spcAft>
            </a:pPr>
            <a:r>
              <a:rPr sz="1500" b="0">
                <a:solidFill>
                  <a:srgbClr val="0B0F1F"/>
                </a:solidFill>
                <a:latin typeface="Calibri"/>
              </a:rPr>
              <a:t>Misses cost nothing; a “no” still counts. The four get a fresh start.</a:t>
            </a:r>
          </a:p>
        </p:txBody>
      </p:sp>
      <p:sp>
        <p:nvSpPr>
          <p:cNvPr id="9" name="Rounded Rectangle 8"/>
          <p:cNvSpPr/>
          <p:nvPr/>
        </p:nvSpPr>
        <p:spPr>
          <a:xfrm>
            <a:off x="4425696" y="1847088"/>
            <a:ext cx="3429000" cy="1874519"/>
          </a:xfrm>
          <a:prstGeom prst="roundRect">
            <a:avLst>
              <a:gd name="adj" fmla="val 8000"/>
            </a:avLst>
          </a:prstGeom>
          <a:solidFill>
            <a:srgbClr val="0B0F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361688" y="1783080"/>
            <a:ext cx="3429000" cy="1874519"/>
          </a:xfrm>
          <a:prstGeom prst="roundRect">
            <a:avLst>
              <a:gd name="adj" fmla="val 8000"/>
            </a:avLst>
          </a:prstGeom>
          <a:solidFill>
            <a:srgbClr val="EEF3FF"/>
          </a:solidFill>
          <a:ln w="28575">
            <a:solidFill>
              <a:srgbClr val="0B0F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90288" y="1965960"/>
            <a:ext cx="2971800" cy="411480"/>
          </a:xfrm>
          <a:prstGeom prst="rect">
            <a:avLst/>
          </a:prstGeom>
          <a:noFill/>
        </p:spPr>
        <p:txBody>
          <a:bodyPr wrap="square" lIns="0" rIns="0" tIns="0" bIns="0" anchor="t">
            <a:spAutoFit/>
          </a:bodyPr>
          <a:lstStyle/>
          <a:p>
            <a:pPr algn="l">
              <a:spcAft>
                <a:spcPts val="600"/>
              </a:spcAft>
            </a:pPr>
            <a:r>
              <a:rPr sz="1600" b="0">
                <a:solidFill>
                  <a:srgbClr val="0B0F1F"/>
                </a:solidFill>
                <a:latin typeface="Arial Black"/>
              </a:rPr>
              <a:t>2. Where and how far</a:t>
            </a:r>
          </a:p>
        </p:txBody>
      </p:sp>
      <p:sp>
        <p:nvSpPr>
          <p:cNvPr id="12" name="TextBox 11"/>
          <p:cNvSpPr txBox="1"/>
          <p:nvPr/>
        </p:nvSpPr>
        <p:spPr>
          <a:xfrm>
            <a:off x="4590288" y="2441448"/>
            <a:ext cx="2971800" cy="1097279"/>
          </a:xfrm>
          <a:prstGeom prst="rect">
            <a:avLst/>
          </a:prstGeom>
          <a:noFill/>
        </p:spPr>
        <p:txBody>
          <a:bodyPr wrap="square" lIns="0" rIns="0" tIns="0" bIns="0" anchor="t">
            <a:spAutoFit/>
          </a:bodyPr>
          <a:lstStyle/>
          <a:p>
            <a:pPr algn="l">
              <a:spcAft>
                <a:spcPts val="600"/>
              </a:spcAft>
            </a:pPr>
            <a:r>
              <a:rPr sz="1500" b="0">
                <a:solidFill>
                  <a:srgbClr val="0B0F1F"/>
                </a:solidFill>
                <a:latin typeface="Calibri"/>
              </a:rPr>
              <a:t>Drive time first, leave-by and arrive-by, map, skills, a giant Take It button.</a:t>
            </a:r>
          </a:p>
        </p:txBody>
      </p:sp>
      <p:sp>
        <p:nvSpPr>
          <p:cNvPr id="13" name="Rounded Rectangle 12"/>
          <p:cNvSpPr/>
          <p:nvPr/>
        </p:nvSpPr>
        <p:spPr>
          <a:xfrm>
            <a:off x="8238744" y="1847088"/>
            <a:ext cx="3429000" cy="1874519"/>
          </a:xfrm>
          <a:prstGeom prst="roundRect">
            <a:avLst>
              <a:gd name="adj" fmla="val 8000"/>
            </a:avLst>
          </a:prstGeom>
          <a:solidFill>
            <a:srgbClr val="0B0F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174736" y="1783080"/>
            <a:ext cx="3429000" cy="1874519"/>
          </a:xfrm>
          <a:prstGeom prst="roundRect">
            <a:avLst>
              <a:gd name="adj" fmla="val 8000"/>
            </a:avLst>
          </a:prstGeom>
          <a:solidFill>
            <a:srgbClr val="EEF3FF"/>
          </a:solidFill>
          <a:ln w="28575">
            <a:solidFill>
              <a:srgbClr val="0B0F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403336" y="1965960"/>
            <a:ext cx="2971800" cy="411480"/>
          </a:xfrm>
          <a:prstGeom prst="rect">
            <a:avLst/>
          </a:prstGeom>
          <a:noFill/>
        </p:spPr>
        <p:txBody>
          <a:bodyPr wrap="square" lIns="0" rIns="0" tIns="0" bIns="0" anchor="t">
            <a:spAutoFit/>
          </a:bodyPr>
          <a:lstStyle/>
          <a:p>
            <a:pPr algn="l">
              <a:spcAft>
                <a:spcPts val="600"/>
              </a:spcAft>
            </a:pPr>
            <a:r>
              <a:rPr sz="1600" b="0">
                <a:solidFill>
                  <a:srgbClr val="0B0F1F"/>
                </a:solidFill>
                <a:latin typeface="Arial Black"/>
              </a:rPr>
              <a:t>3. 15-second grace</a:t>
            </a:r>
          </a:p>
        </p:txBody>
      </p:sp>
      <p:sp>
        <p:nvSpPr>
          <p:cNvPr id="16" name="TextBox 15"/>
          <p:cNvSpPr txBox="1"/>
          <p:nvPr/>
        </p:nvSpPr>
        <p:spPr>
          <a:xfrm>
            <a:off x="8403336" y="2441448"/>
            <a:ext cx="2971800" cy="1097279"/>
          </a:xfrm>
          <a:prstGeom prst="rect">
            <a:avLst/>
          </a:prstGeom>
          <a:noFill/>
        </p:spPr>
        <p:txBody>
          <a:bodyPr wrap="square" lIns="0" rIns="0" tIns="0" bIns="0" anchor="t">
            <a:spAutoFit/>
          </a:bodyPr>
          <a:lstStyle/>
          <a:p>
            <a:pPr algn="l">
              <a:spcAft>
                <a:spcPts val="600"/>
              </a:spcAft>
            </a:pPr>
            <a:r>
              <a:rPr sz="1500" b="0">
                <a:solidFill>
                  <a:srgbClr val="0B0F1F"/>
                </a:solidFill>
                <a:latin typeface="Calibri"/>
              </a:rPr>
              <a:t>“Still lit!” First tap wins. Dispatch doesn’t slow down.</a:t>
            </a:r>
          </a:p>
        </p:txBody>
      </p:sp>
      <p:sp>
        <p:nvSpPr>
          <p:cNvPr id="17" name="Rounded Rectangle 16"/>
          <p:cNvSpPr/>
          <p:nvPr/>
        </p:nvSpPr>
        <p:spPr>
          <a:xfrm>
            <a:off x="612647" y="4041648"/>
            <a:ext cx="3429000" cy="1874519"/>
          </a:xfrm>
          <a:prstGeom prst="roundRect">
            <a:avLst>
              <a:gd name="adj" fmla="val 8000"/>
            </a:avLst>
          </a:prstGeom>
          <a:solidFill>
            <a:srgbClr val="0B0F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548640" y="3977639"/>
            <a:ext cx="3429000" cy="1874519"/>
          </a:xfrm>
          <a:prstGeom prst="roundRect">
            <a:avLst>
              <a:gd name="adj" fmla="val 8000"/>
            </a:avLst>
          </a:prstGeom>
          <a:solidFill>
            <a:srgbClr val="EEF3FF"/>
          </a:solidFill>
          <a:ln w="28575">
            <a:solidFill>
              <a:srgbClr val="0B0F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160520"/>
            <a:ext cx="2971800" cy="411480"/>
          </a:xfrm>
          <a:prstGeom prst="rect">
            <a:avLst/>
          </a:prstGeom>
          <a:noFill/>
        </p:spPr>
        <p:txBody>
          <a:bodyPr wrap="square" lIns="0" rIns="0" tIns="0" bIns="0" anchor="t">
            <a:spAutoFit/>
          </a:bodyPr>
          <a:lstStyle/>
          <a:p>
            <a:pPr algn="l">
              <a:spcAft>
                <a:spcPts val="600"/>
              </a:spcAft>
            </a:pPr>
            <a:r>
              <a:rPr sz="1600" b="0">
                <a:solidFill>
                  <a:srgbClr val="0B0F1F"/>
                </a:solidFill>
                <a:latin typeface="Arial Black"/>
              </a:rPr>
              <a:t>4. Signal missed</a:t>
            </a:r>
          </a:p>
        </p:txBody>
      </p:sp>
      <p:sp>
        <p:nvSpPr>
          <p:cNvPr id="20" name="TextBox 19"/>
          <p:cNvSpPr txBox="1"/>
          <p:nvPr/>
        </p:nvSpPr>
        <p:spPr>
          <a:xfrm>
            <a:off x="777240" y="4636007"/>
            <a:ext cx="2971800" cy="1097279"/>
          </a:xfrm>
          <a:prstGeom prst="rect">
            <a:avLst/>
          </a:prstGeom>
          <a:noFill/>
        </p:spPr>
        <p:txBody>
          <a:bodyPr wrap="square" lIns="0" rIns="0" tIns="0" bIns="0" anchor="t">
            <a:spAutoFit/>
          </a:bodyPr>
          <a:lstStyle/>
          <a:p>
            <a:pPr algn="l">
              <a:spcAft>
                <a:spcPts val="600"/>
              </a:spcAft>
            </a:pPr>
            <a:r>
              <a:rPr sz="1500" b="0">
                <a:solidFill>
                  <a:srgbClr val="0B0F1F"/>
                </a:solidFill>
                <a:latin typeface="Calibri"/>
              </a:rPr>
              <a:t>Context plus a one-tap reason, which tells us timer vs phone.</a:t>
            </a:r>
          </a:p>
        </p:txBody>
      </p:sp>
      <p:sp>
        <p:nvSpPr>
          <p:cNvPr id="21" name="Rounded Rectangle 20"/>
          <p:cNvSpPr/>
          <p:nvPr/>
        </p:nvSpPr>
        <p:spPr>
          <a:xfrm>
            <a:off x="4425696" y="4041648"/>
            <a:ext cx="3429000" cy="1874519"/>
          </a:xfrm>
          <a:prstGeom prst="roundRect">
            <a:avLst>
              <a:gd name="adj" fmla="val 8000"/>
            </a:avLst>
          </a:prstGeom>
          <a:solidFill>
            <a:srgbClr val="0B0F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4361688" y="3977639"/>
            <a:ext cx="3429000" cy="1874519"/>
          </a:xfrm>
          <a:prstGeom prst="roundRect">
            <a:avLst>
              <a:gd name="adj" fmla="val 8000"/>
            </a:avLst>
          </a:prstGeom>
          <a:solidFill>
            <a:srgbClr val="EEF3FF"/>
          </a:solidFill>
          <a:ln w="28575">
            <a:solidFill>
              <a:srgbClr val="0B0F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90288" y="4160520"/>
            <a:ext cx="2971800" cy="411480"/>
          </a:xfrm>
          <a:prstGeom prst="rect">
            <a:avLst/>
          </a:prstGeom>
          <a:noFill/>
        </p:spPr>
        <p:txBody>
          <a:bodyPr wrap="square" lIns="0" rIns="0" tIns="0" bIns="0" anchor="t">
            <a:spAutoFit/>
          </a:bodyPr>
          <a:lstStyle/>
          <a:p>
            <a:pPr algn="l">
              <a:spcAft>
                <a:spcPts val="600"/>
              </a:spcAft>
            </a:pPr>
            <a:r>
              <a:rPr sz="1600" b="0">
                <a:solidFill>
                  <a:srgbClr val="0B0F1F"/>
                </a:solidFill>
                <a:latin typeface="Arial Black"/>
              </a:rPr>
              <a:t>5. Put me first</a:t>
            </a:r>
          </a:p>
        </p:txBody>
      </p:sp>
      <p:sp>
        <p:nvSpPr>
          <p:cNvPr id="24" name="TextBox 23"/>
          <p:cNvSpPr txBox="1"/>
          <p:nvPr/>
        </p:nvSpPr>
        <p:spPr>
          <a:xfrm>
            <a:off x="4590288" y="4636007"/>
            <a:ext cx="2971800" cy="1097279"/>
          </a:xfrm>
          <a:prstGeom prst="rect">
            <a:avLst/>
          </a:prstGeom>
          <a:noFill/>
        </p:spPr>
        <p:txBody>
          <a:bodyPr wrap="square" lIns="0" rIns="0" tIns="0" bIns="0" anchor="t">
            <a:spAutoFit/>
          </a:bodyPr>
          <a:lstStyle/>
          <a:p>
            <a:pPr algn="l">
              <a:spcAft>
                <a:spcPts val="600"/>
              </a:spcAft>
            </a:pPr>
            <a:r>
              <a:rPr sz="1500" b="0">
                <a:solidFill>
                  <a:srgbClr val="0B0F1F"/>
                </a:solidFill>
                <a:latin typeface="Calibri"/>
              </a:rPr>
              <a:t>“I’m free now.” Once every 4 hours, within a 15-minute drive.</a:t>
            </a:r>
          </a:p>
        </p:txBody>
      </p:sp>
      <p:sp>
        <p:nvSpPr>
          <p:cNvPr id="25" name="Rounded Rectangle 24"/>
          <p:cNvSpPr/>
          <p:nvPr/>
        </p:nvSpPr>
        <p:spPr>
          <a:xfrm>
            <a:off x="8238744" y="4041648"/>
            <a:ext cx="3429000" cy="1874519"/>
          </a:xfrm>
          <a:prstGeom prst="roundRect">
            <a:avLst>
              <a:gd name="adj" fmla="val 8000"/>
            </a:avLst>
          </a:prstGeom>
          <a:solidFill>
            <a:srgbClr val="0B0F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8174736" y="3977639"/>
            <a:ext cx="3429000" cy="1874519"/>
          </a:xfrm>
          <a:prstGeom prst="roundRect">
            <a:avLst>
              <a:gd name="adj" fmla="val 8000"/>
            </a:avLst>
          </a:prstGeom>
          <a:solidFill>
            <a:srgbClr val="EEF3FF"/>
          </a:solidFill>
          <a:ln w="28575">
            <a:solidFill>
              <a:srgbClr val="0B0F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403336" y="4160520"/>
            <a:ext cx="2971800" cy="411480"/>
          </a:xfrm>
          <a:prstGeom prst="rect">
            <a:avLst/>
          </a:prstGeom>
          <a:noFill/>
        </p:spPr>
        <p:txBody>
          <a:bodyPr wrap="square" lIns="0" rIns="0" tIns="0" bIns="0" anchor="t">
            <a:spAutoFit/>
          </a:bodyPr>
          <a:lstStyle/>
          <a:p>
            <a:pPr algn="l">
              <a:spcAft>
                <a:spcPts val="600"/>
              </a:spcAft>
            </a:pPr>
            <a:r>
              <a:rPr sz="1600" b="0">
                <a:solidFill>
                  <a:srgbClr val="0B0F1F"/>
                </a:solidFill>
                <a:latin typeface="Arial Black"/>
              </a:rPr>
              <a:t>6. Handler HQ</a:t>
            </a:r>
          </a:p>
        </p:txBody>
      </p:sp>
      <p:sp>
        <p:nvSpPr>
          <p:cNvPr id="28" name="TextBox 27"/>
          <p:cNvSpPr txBox="1"/>
          <p:nvPr/>
        </p:nvSpPr>
        <p:spPr>
          <a:xfrm>
            <a:off x="8403336" y="4636007"/>
            <a:ext cx="2971800" cy="1097279"/>
          </a:xfrm>
          <a:prstGeom prst="rect">
            <a:avLst/>
          </a:prstGeom>
          <a:noFill/>
        </p:spPr>
        <p:txBody>
          <a:bodyPr wrap="square" lIns="0" rIns="0" tIns="0" bIns="0" anchor="t">
            <a:spAutoFit/>
          </a:bodyPr>
          <a:lstStyle/>
          <a:p>
            <a:pPr algn="l">
              <a:spcAft>
                <a:spcPts val="600"/>
              </a:spcAft>
            </a:pPr>
            <a:r>
              <a:rPr sz="1500" b="0">
                <a:solidFill>
                  <a:srgbClr val="0B0F1F"/>
                </a:solidFill>
                <a:latin typeface="Calibri"/>
              </a:rPr>
              <a:t>Gone quiet and overloaded flags, with reasons and actions.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D1B4C"/>
        </a:solidFill>
        <a:effectLst/>
      </p:bgPr>
    </p:bg>
    <p:spTree>
      <p:nvGrpSpPr>
        <p:cNvPr id="1" name=""/>
        <p:cNvGrpSpPr/>
        <p:nvPr/>
      </p:nvGrpSpPr>
      <p:grpSpPr/>
      <p:sp>
        <p:nvSpPr>
          <p:cNvPr id="2" name="TextBox 1"/>
          <p:cNvSpPr txBox="1"/>
          <p:nvPr/>
        </p:nvSpPr>
        <p:spPr>
          <a:xfrm>
            <a:off x="548640" y="411480"/>
            <a:ext cx="8229600" cy="320040"/>
          </a:xfrm>
          <a:prstGeom prst="rect">
            <a:avLst/>
          </a:prstGeom>
          <a:noFill/>
        </p:spPr>
        <p:txBody>
          <a:bodyPr wrap="square" lIns="0" rIns="0" tIns="0" bIns="0" anchor="t">
            <a:spAutoFit/>
          </a:bodyPr>
          <a:lstStyle/>
          <a:p>
            <a:pPr algn="l">
              <a:spcAft>
                <a:spcPts val="600"/>
              </a:spcAft>
            </a:pPr>
            <a:r>
              <a:rPr sz="1300" b="1">
                <a:solidFill>
                  <a:srgbClr val="C9D4FF"/>
                </a:solidFill>
                <a:latin typeface="Calibri"/>
              </a:rPr>
              <a:t>THE PROTOTYPE</a:t>
            </a:r>
          </a:p>
        </p:txBody>
      </p:sp>
      <p:sp>
        <p:nvSpPr>
          <p:cNvPr id="3" name="TextBox 2"/>
          <p:cNvSpPr txBox="1"/>
          <p:nvPr/>
        </p:nvSpPr>
        <p:spPr>
          <a:xfrm>
            <a:off x="548640" y="731520"/>
            <a:ext cx="11094415" cy="822960"/>
          </a:xfrm>
          <a:prstGeom prst="rect">
            <a:avLst/>
          </a:prstGeom>
          <a:noFill/>
        </p:spPr>
        <p:txBody>
          <a:bodyPr wrap="square" lIns="0" rIns="0" tIns="0" bIns="0" anchor="t">
            <a:spAutoFit/>
          </a:bodyPr>
          <a:lstStyle/>
          <a:p>
            <a:pPr algn="l">
              <a:spcAft>
                <a:spcPts val="600"/>
              </a:spcAft>
            </a:pPr>
            <a:r>
              <a:rPr sz="3200" b="0">
                <a:solidFill>
                  <a:srgbClr val="FFCC1F"/>
                </a:solidFill>
                <a:latin typeface="Arial Black"/>
              </a:rPr>
              <a:t>Click through it: prototype.html</a:t>
            </a:r>
          </a:p>
        </p:txBody>
      </p:sp>
      <p:sp>
        <p:nvSpPr>
          <p:cNvPr id="4" name="TextBox 3"/>
          <p:cNvSpPr txBox="1"/>
          <p:nvPr/>
        </p:nvSpPr>
        <p:spPr>
          <a:xfrm>
            <a:off x="10911535" y="6446520"/>
            <a:ext cx="822960" cy="274320"/>
          </a:xfrm>
          <a:prstGeom prst="rect">
            <a:avLst/>
          </a:prstGeom>
          <a:noFill/>
        </p:spPr>
        <p:txBody>
          <a:bodyPr wrap="square" lIns="0" rIns="0" tIns="0" bIns="0" anchor="t">
            <a:spAutoFit/>
          </a:bodyPr>
          <a:lstStyle/>
          <a:p>
            <a:pPr algn="r">
              <a:spcAft>
                <a:spcPts val="600"/>
              </a:spcAft>
            </a:pPr>
            <a:r>
              <a:rPr sz="1100" b="0">
                <a:solidFill>
                  <a:srgbClr val="C9D4FF"/>
                </a:solidFill>
                <a:latin typeface="Calibri"/>
              </a:rPr>
              <a:t>9 / 13</a:t>
            </a:r>
          </a:p>
        </p:txBody>
      </p:sp>
      <p:sp>
        <p:nvSpPr>
          <p:cNvPr id="5" name="Rounded Rectangle 4"/>
          <p:cNvSpPr/>
          <p:nvPr/>
        </p:nvSpPr>
        <p:spPr>
          <a:xfrm>
            <a:off x="548640" y="1691640"/>
            <a:ext cx="2926080" cy="4434840"/>
          </a:xfrm>
          <a:prstGeom prst="roundRect">
            <a:avLst>
              <a:gd name="adj" fmla="val 8000"/>
            </a:avLst>
          </a:prstGeom>
          <a:solidFill>
            <a:srgbClr val="0B0F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85800" y="1828800"/>
            <a:ext cx="2651760" cy="4160520"/>
          </a:xfrm>
          <a:prstGeom prst="roundRect">
            <a:avLst>
              <a:gd name="adj" fmla="val 8000"/>
            </a:avLst>
          </a:prstGeom>
          <a:solidFill>
            <a:srgbClr val="E3262F"/>
          </a:solidFill>
          <a:ln w="28575">
            <a:solidFill>
              <a:srgbClr val="0B0F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965960"/>
            <a:ext cx="2286000" cy="365760"/>
          </a:xfrm>
          <a:prstGeom prst="rect">
            <a:avLst/>
          </a:prstGeom>
          <a:noFill/>
        </p:spPr>
        <p:txBody>
          <a:bodyPr wrap="square" lIns="0" rIns="0" tIns="0" bIns="0" anchor="t">
            <a:spAutoFit/>
          </a:bodyPr>
          <a:lstStyle/>
          <a:p>
            <a:pPr algn="l">
              <a:spcAft>
                <a:spcPts val="600"/>
              </a:spcAft>
            </a:pPr>
            <a:r>
              <a:rPr sz="1800" b="0">
                <a:solidFill>
                  <a:srgbClr val="FFCC1F"/>
                </a:solidFill>
                <a:latin typeface="Arial Black"/>
              </a:rPr>
              <a:t>SIGNAL!</a:t>
            </a:r>
          </a:p>
        </p:txBody>
      </p:sp>
      <p:sp>
        <p:nvSpPr>
          <p:cNvPr id="8" name="TextBox 7"/>
          <p:cNvSpPr txBox="1"/>
          <p:nvPr/>
        </p:nvSpPr>
        <p:spPr>
          <a:xfrm>
            <a:off x="868680" y="2377440"/>
            <a:ext cx="2286000" cy="457200"/>
          </a:xfrm>
          <a:prstGeom prst="rect">
            <a:avLst/>
          </a:prstGeom>
          <a:noFill/>
        </p:spPr>
        <p:txBody>
          <a:bodyPr wrap="square" lIns="0" rIns="0" tIns="0" bIns="0" anchor="t">
            <a:spAutoFit/>
          </a:bodyPr>
          <a:lstStyle/>
          <a:p>
            <a:pPr algn="l">
              <a:spcAft>
                <a:spcPts val="600"/>
              </a:spcAft>
            </a:pPr>
            <a:r>
              <a:rPr sz="1400" b="0">
                <a:solidFill>
                  <a:srgbClr val="FFFFFF"/>
                </a:solidFill>
                <a:latin typeface="Arial Black"/>
              </a:rPr>
              <a:t>Building collapse</a:t>
            </a:r>
          </a:p>
        </p:txBody>
      </p:sp>
      <p:sp>
        <p:nvSpPr>
          <p:cNvPr id="9" name="TextBox 8"/>
          <p:cNvSpPr txBox="1"/>
          <p:nvPr/>
        </p:nvSpPr>
        <p:spPr>
          <a:xfrm>
            <a:off x="868680" y="2834640"/>
            <a:ext cx="2286000" cy="640080"/>
          </a:xfrm>
          <a:prstGeom prst="rect">
            <a:avLst/>
          </a:prstGeom>
          <a:noFill/>
        </p:spPr>
        <p:txBody>
          <a:bodyPr wrap="square" lIns="0" rIns="0" tIns="0" bIns="0" anchor="t">
            <a:spAutoFit/>
          </a:bodyPr>
          <a:lstStyle/>
          <a:p>
            <a:pPr algn="l">
              <a:spcAft>
                <a:spcPts val="600"/>
              </a:spcAft>
            </a:pPr>
            <a:r>
              <a:rPr sz="2200" b="0">
                <a:solidFill>
                  <a:srgbClr val="FFCC1F"/>
                </a:solidFill>
                <a:latin typeface="Arial Black"/>
              </a:rPr>
              <a:t>9 MIN DRIVE</a:t>
            </a:r>
          </a:p>
        </p:txBody>
      </p:sp>
      <p:sp>
        <p:nvSpPr>
          <p:cNvPr id="10" name="TextBox 9"/>
          <p:cNvSpPr txBox="1"/>
          <p:nvPr/>
        </p:nvSpPr>
        <p:spPr>
          <a:xfrm>
            <a:off x="868680" y="3520440"/>
            <a:ext cx="2286000" cy="320040"/>
          </a:xfrm>
          <a:prstGeom prst="rect">
            <a:avLst/>
          </a:prstGeom>
          <a:noFill/>
        </p:spPr>
        <p:txBody>
          <a:bodyPr wrap="square" lIns="0" rIns="0" tIns="0" bIns="0" anchor="t">
            <a:spAutoFit/>
          </a:bodyPr>
          <a:lstStyle/>
          <a:p>
            <a:pPr algn="l">
              <a:spcAft>
                <a:spcPts val="600"/>
              </a:spcAft>
            </a:pPr>
            <a:r>
              <a:rPr sz="1300" b="0">
                <a:solidFill>
                  <a:srgbClr val="FFFFFF"/>
                </a:solidFill>
                <a:latin typeface="Calibri"/>
              </a:rPr>
              <a:t>4.1 km · Harbor district</a:t>
            </a:r>
          </a:p>
        </p:txBody>
      </p:sp>
      <p:sp>
        <p:nvSpPr>
          <p:cNvPr id="11" name="TextBox 10"/>
          <p:cNvSpPr txBox="1"/>
          <p:nvPr/>
        </p:nvSpPr>
        <p:spPr>
          <a:xfrm>
            <a:off x="868680" y="3840480"/>
            <a:ext cx="2286000" cy="320040"/>
          </a:xfrm>
          <a:prstGeom prst="rect">
            <a:avLst/>
          </a:prstGeom>
          <a:noFill/>
        </p:spPr>
        <p:txBody>
          <a:bodyPr wrap="square" lIns="0" rIns="0" tIns="0" bIns="0" anchor="t">
            <a:spAutoFit/>
          </a:bodyPr>
          <a:lstStyle/>
          <a:p>
            <a:pPr algn="l">
              <a:spcAft>
                <a:spcPts val="600"/>
              </a:spcAft>
            </a:pPr>
            <a:r>
              <a:rPr sz="1200" b="1">
                <a:solidFill>
                  <a:srgbClr val="FFFFFF"/>
                </a:solidFill>
                <a:latin typeface="Calibri"/>
              </a:rPr>
              <a:t>Leave by 21:24 · arrive 21:33</a:t>
            </a:r>
          </a:p>
        </p:txBody>
      </p:sp>
      <p:sp>
        <p:nvSpPr>
          <p:cNvPr id="12" name="Oval 11"/>
          <p:cNvSpPr/>
          <p:nvPr/>
        </p:nvSpPr>
        <p:spPr>
          <a:xfrm>
            <a:off x="1325880" y="4343400"/>
            <a:ext cx="1371600" cy="1371600"/>
          </a:xfrm>
          <a:prstGeom prst="ellipse">
            <a:avLst/>
          </a:prstGeom>
          <a:solidFill>
            <a:srgbClr val="FFFFFF"/>
          </a:solidFill>
          <a:ln w="76200">
            <a:solidFill>
              <a:srgbClr val="FFCC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325880" y="4800600"/>
            <a:ext cx="1371600" cy="457200"/>
          </a:xfrm>
          <a:prstGeom prst="rect">
            <a:avLst/>
          </a:prstGeom>
          <a:noFill/>
        </p:spPr>
        <p:txBody>
          <a:bodyPr wrap="square" lIns="0" rIns="0" tIns="0" bIns="0" anchor="t">
            <a:spAutoFit/>
          </a:bodyPr>
          <a:lstStyle/>
          <a:p>
            <a:pPr algn="ctr">
              <a:spcAft>
                <a:spcPts val="600"/>
              </a:spcAft>
            </a:pPr>
            <a:r>
              <a:rPr sz="1600" b="0">
                <a:solidFill>
                  <a:srgbClr val="0B0F1F"/>
                </a:solidFill>
                <a:latin typeface="Arial Black"/>
              </a:rPr>
              <a:t>TAKE IT</a:t>
            </a:r>
          </a:p>
        </p:txBody>
      </p:sp>
      <p:sp>
        <p:nvSpPr>
          <p:cNvPr id="14" name="Rounded Rectangle 13"/>
          <p:cNvSpPr/>
          <p:nvPr/>
        </p:nvSpPr>
        <p:spPr>
          <a:xfrm>
            <a:off x="4087368" y="1847088"/>
            <a:ext cx="3657600" cy="1874519"/>
          </a:xfrm>
          <a:prstGeom prst="roundRect">
            <a:avLst>
              <a:gd name="adj" fmla="val 8000"/>
            </a:avLst>
          </a:prstGeom>
          <a:solidFill>
            <a:srgbClr val="0B0F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4023360" y="1783080"/>
            <a:ext cx="3657600" cy="1874519"/>
          </a:xfrm>
          <a:prstGeom prst="roundRect">
            <a:avLst>
              <a:gd name="adj" fmla="val 8000"/>
            </a:avLst>
          </a:prstGeom>
          <a:solidFill>
            <a:srgbClr val="FFCC1F"/>
          </a:solidFill>
          <a:ln w="28575">
            <a:solidFill>
              <a:srgbClr val="0B0F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251960" y="1965960"/>
            <a:ext cx="3200400" cy="411480"/>
          </a:xfrm>
          <a:prstGeom prst="rect">
            <a:avLst/>
          </a:prstGeom>
          <a:noFill/>
        </p:spPr>
        <p:txBody>
          <a:bodyPr wrap="square" lIns="0" rIns="0" tIns="0" bIns="0" anchor="t">
            <a:spAutoFit/>
          </a:bodyPr>
          <a:lstStyle/>
          <a:p>
            <a:pPr algn="l">
              <a:spcAft>
                <a:spcPts val="600"/>
              </a:spcAft>
            </a:pPr>
            <a:r>
              <a:rPr sz="1600" b="0">
                <a:solidFill>
                  <a:srgbClr val="0B0F1F"/>
                </a:solidFill>
                <a:latin typeface="Arial Black"/>
              </a:rPr>
              <a:t>Still lit!</a:t>
            </a:r>
          </a:p>
        </p:txBody>
      </p:sp>
      <p:sp>
        <p:nvSpPr>
          <p:cNvPr id="17" name="TextBox 16"/>
          <p:cNvSpPr txBox="1"/>
          <p:nvPr/>
        </p:nvSpPr>
        <p:spPr>
          <a:xfrm>
            <a:off x="4251960" y="2441448"/>
            <a:ext cx="3200400" cy="1097279"/>
          </a:xfrm>
          <a:prstGeom prst="rect">
            <a:avLst/>
          </a:prstGeom>
          <a:noFill/>
        </p:spPr>
        <p:txBody>
          <a:bodyPr wrap="square" lIns="0" rIns="0" tIns="0" bIns="0" anchor="t">
            <a:spAutoFit/>
          </a:bodyPr>
          <a:lstStyle/>
          <a:p>
            <a:pPr algn="l">
              <a:spcAft>
                <a:spcPts val="600"/>
              </a:spcAft>
            </a:pPr>
            <a:r>
              <a:rPr sz="1500" b="0">
                <a:solidFill>
                  <a:srgbClr val="0B0F1F"/>
                </a:solidFill>
                <a:latin typeface="Calibri"/>
              </a:rPr>
              <a:t>15 more seconds after time runs out. First tap wins.</a:t>
            </a:r>
          </a:p>
        </p:txBody>
      </p:sp>
      <p:sp>
        <p:nvSpPr>
          <p:cNvPr id="18" name="Rounded Rectangle 17"/>
          <p:cNvSpPr/>
          <p:nvPr/>
        </p:nvSpPr>
        <p:spPr>
          <a:xfrm>
            <a:off x="8065008" y="1847088"/>
            <a:ext cx="3657600" cy="1874519"/>
          </a:xfrm>
          <a:prstGeom prst="roundRect">
            <a:avLst>
              <a:gd name="adj" fmla="val 8000"/>
            </a:avLst>
          </a:prstGeom>
          <a:solidFill>
            <a:srgbClr val="0B0F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001000" y="1783080"/>
            <a:ext cx="3657600" cy="1874519"/>
          </a:xfrm>
          <a:prstGeom prst="roundRect">
            <a:avLst>
              <a:gd name="adj" fmla="val 8000"/>
            </a:avLst>
          </a:prstGeom>
          <a:solidFill>
            <a:srgbClr val="13A862"/>
          </a:solidFill>
          <a:ln w="28575">
            <a:solidFill>
              <a:srgbClr val="0B0F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9600" y="1965960"/>
            <a:ext cx="3200400" cy="411480"/>
          </a:xfrm>
          <a:prstGeom prst="rect">
            <a:avLst/>
          </a:prstGeom>
          <a:noFill/>
        </p:spPr>
        <p:txBody>
          <a:bodyPr wrap="square" lIns="0" rIns="0" tIns="0" bIns="0" anchor="t">
            <a:spAutoFit/>
          </a:bodyPr>
          <a:lstStyle/>
          <a:p>
            <a:pPr algn="l">
              <a:spcAft>
                <a:spcPts val="600"/>
              </a:spcAft>
            </a:pPr>
            <a:r>
              <a:rPr sz="1600" b="0">
                <a:solidFill>
                  <a:srgbClr val="FFFFFF"/>
                </a:solidFill>
                <a:latin typeface="Arial Black"/>
              </a:rPr>
              <a:t>It’s yours!</a:t>
            </a:r>
          </a:p>
        </p:txBody>
      </p:sp>
      <p:sp>
        <p:nvSpPr>
          <p:cNvPr id="21" name="TextBox 20"/>
          <p:cNvSpPr txBox="1"/>
          <p:nvPr/>
        </p:nvSpPr>
        <p:spPr>
          <a:xfrm>
            <a:off x="8229600" y="2441448"/>
            <a:ext cx="3200400" cy="1097279"/>
          </a:xfrm>
          <a:prstGeom prst="rect">
            <a:avLst/>
          </a:prstGeom>
          <a:noFill/>
        </p:spPr>
        <p:txBody>
          <a:bodyPr wrap="square" lIns="0" rIns="0" tIns="0" bIns="0" anchor="t">
            <a:spAutoFit/>
          </a:bodyPr>
          <a:lstStyle/>
          <a:p>
            <a:pPr algn="l">
              <a:spcAft>
                <a:spcPts val="600"/>
              </a:spcAft>
            </a:pPr>
            <a:r>
              <a:rPr sz="1500" b="0">
                <a:solidFill>
                  <a:srgbClr val="FFFFFF"/>
                </a:solidFill>
                <a:latin typeface="Calibri"/>
              </a:rPr>
              <a:t>Instant result, with when to leave.</a:t>
            </a:r>
          </a:p>
        </p:txBody>
      </p:sp>
      <p:sp>
        <p:nvSpPr>
          <p:cNvPr id="22" name="Rounded Rectangle 21"/>
          <p:cNvSpPr/>
          <p:nvPr/>
        </p:nvSpPr>
        <p:spPr>
          <a:xfrm>
            <a:off x="4087368" y="4041648"/>
            <a:ext cx="3657600" cy="1874519"/>
          </a:xfrm>
          <a:prstGeom prst="roundRect">
            <a:avLst>
              <a:gd name="adj" fmla="val 8000"/>
            </a:avLst>
          </a:prstGeom>
          <a:solidFill>
            <a:srgbClr val="0B0F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4023360" y="3977639"/>
            <a:ext cx="3657600" cy="1874519"/>
          </a:xfrm>
          <a:prstGeom prst="roundRect">
            <a:avLst>
              <a:gd name="adj" fmla="val 8000"/>
            </a:avLst>
          </a:prstGeom>
          <a:solidFill>
            <a:srgbClr val="EEF3FF"/>
          </a:solidFill>
          <a:ln w="28575">
            <a:solidFill>
              <a:srgbClr val="0B0F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251960" y="4160520"/>
            <a:ext cx="3200400" cy="411480"/>
          </a:xfrm>
          <a:prstGeom prst="rect">
            <a:avLst/>
          </a:prstGeom>
          <a:noFill/>
        </p:spPr>
        <p:txBody>
          <a:bodyPr wrap="square" lIns="0" rIns="0" tIns="0" bIns="0" anchor="t">
            <a:spAutoFit/>
          </a:bodyPr>
          <a:lstStyle/>
          <a:p>
            <a:pPr algn="l">
              <a:spcAft>
                <a:spcPts val="600"/>
              </a:spcAft>
            </a:pPr>
            <a:r>
              <a:rPr sz="1600" b="0">
                <a:solidFill>
                  <a:srgbClr val="0B0F1F"/>
                </a:solidFill>
                <a:latin typeface="Arial Black"/>
              </a:rPr>
              <a:t>Signal missed</a:t>
            </a:r>
          </a:p>
        </p:txBody>
      </p:sp>
      <p:sp>
        <p:nvSpPr>
          <p:cNvPr id="25" name="TextBox 24"/>
          <p:cNvSpPr txBox="1"/>
          <p:nvPr/>
        </p:nvSpPr>
        <p:spPr>
          <a:xfrm>
            <a:off x="4251960" y="4636007"/>
            <a:ext cx="3200400" cy="1097279"/>
          </a:xfrm>
          <a:prstGeom prst="rect">
            <a:avLst/>
          </a:prstGeom>
          <a:noFill/>
        </p:spPr>
        <p:txBody>
          <a:bodyPr wrap="square" lIns="0" rIns="0" tIns="0" bIns="0" anchor="t">
            <a:spAutoFit/>
          </a:bodyPr>
          <a:lstStyle/>
          <a:p>
            <a:pPr algn="l">
              <a:spcAft>
                <a:spcPts val="600"/>
              </a:spcAft>
            </a:pPr>
            <a:r>
              <a:rPr sz="1500" b="0">
                <a:solidFill>
                  <a:srgbClr val="0B0F1F"/>
                </a:solidFill>
                <a:latin typeface="Calibri"/>
              </a:rPr>
              <a:t>One tap: what happened? Never changes your offers.</a:t>
            </a:r>
          </a:p>
        </p:txBody>
      </p:sp>
      <p:sp>
        <p:nvSpPr>
          <p:cNvPr id="26" name="Rounded Rectangle 25"/>
          <p:cNvSpPr/>
          <p:nvPr/>
        </p:nvSpPr>
        <p:spPr>
          <a:xfrm>
            <a:off x="8065008" y="4041648"/>
            <a:ext cx="3657600" cy="1874519"/>
          </a:xfrm>
          <a:prstGeom prst="roundRect">
            <a:avLst>
              <a:gd name="adj" fmla="val 8000"/>
            </a:avLst>
          </a:prstGeom>
          <a:solidFill>
            <a:srgbClr val="0B0F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8001000" y="3977639"/>
            <a:ext cx="3657600" cy="1874519"/>
          </a:xfrm>
          <a:prstGeom prst="roundRect">
            <a:avLst>
              <a:gd name="adj" fmla="val 8000"/>
            </a:avLst>
          </a:prstGeom>
          <a:solidFill>
            <a:srgbClr val="1F4FD8"/>
          </a:solidFill>
          <a:ln w="28575">
            <a:solidFill>
              <a:srgbClr val="0B0F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29600" y="4160520"/>
            <a:ext cx="3200400" cy="411480"/>
          </a:xfrm>
          <a:prstGeom prst="rect">
            <a:avLst/>
          </a:prstGeom>
          <a:noFill/>
        </p:spPr>
        <p:txBody>
          <a:bodyPr wrap="square" lIns="0" rIns="0" tIns="0" bIns="0" anchor="t">
            <a:spAutoFit/>
          </a:bodyPr>
          <a:lstStyle/>
          <a:p>
            <a:pPr algn="l">
              <a:spcAft>
                <a:spcPts val="600"/>
              </a:spcAft>
            </a:pPr>
            <a:r>
              <a:rPr sz="1600" b="0">
                <a:solidFill>
                  <a:srgbClr val="FFFFFF"/>
                </a:solidFill>
                <a:latin typeface="Arial Black"/>
              </a:rPr>
              <a:t>Handler HQ</a:t>
            </a:r>
          </a:p>
        </p:txBody>
      </p:sp>
      <p:sp>
        <p:nvSpPr>
          <p:cNvPr id="29" name="TextBox 28"/>
          <p:cNvSpPr txBox="1"/>
          <p:nvPr/>
        </p:nvSpPr>
        <p:spPr>
          <a:xfrm>
            <a:off x="8229600" y="4636007"/>
            <a:ext cx="3200400" cy="1097279"/>
          </a:xfrm>
          <a:prstGeom prst="rect">
            <a:avLst/>
          </a:prstGeom>
          <a:noFill/>
        </p:spPr>
        <p:txBody>
          <a:bodyPr wrap="square" lIns="0" rIns="0" tIns="0" bIns="0" anchor="t">
            <a:spAutoFit/>
          </a:bodyPr>
          <a:lstStyle/>
          <a:p>
            <a:pPr algn="l">
              <a:spcAft>
                <a:spcPts val="600"/>
              </a:spcAft>
            </a:pPr>
            <a:r>
              <a:rPr sz="1500" b="0">
                <a:solidFill>
                  <a:srgbClr val="FFFFFF"/>
                </a:solidFill>
                <a:latin typeface="Calibri"/>
              </a:rPr>
              <a:t>Mite “Gone quiet”, The Gale “Overloaded 1.6×”.</a:t>
            </a:r>
          </a:p>
        </p:txBody>
      </p:sp>
      <p:sp>
        <p:nvSpPr>
          <p:cNvPr id="30" name="TextBox 29"/>
          <p:cNvSpPr txBox="1"/>
          <p:nvPr/>
        </p:nvSpPr>
        <p:spPr>
          <a:xfrm>
            <a:off x="548640" y="6400800"/>
            <a:ext cx="9997135" cy="274320"/>
          </a:xfrm>
          <a:prstGeom prst="rect">
            <a:avLst/>
          </a:prstGeom>
          <a:noFill/>
        </p:spPr>
        <p:txBody>
          <a:bodyPr wrap="square" lIns="0" rIns="0" tIns="0" bIns="0" anchor="t">
            <a:spAutoFit/>
          </a:bodyPr>
          <a:lstStyle/>
          <a:p>
            <a:pPr algn="l">
              <a:spcAft>
                <a:spcPts val="600"/>
              </a:spcAft>
            </a:pPr>
            <a:r>
              <a:rPr sz="1100" b="0">
                <a:solidFill>
                  <a:srgbClr val="C9D4FF"/>
                </a:solidFill>
                <a:latin typeface="Calibri"/>
              </a:rPr>
              <a:t>Weekly numbers from the callout history; offer details illustrative. Visual style is exploratory.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8229600" cy="320040"/>
          </a:xfrm>
          <a:prstGeom prst="rect">
            <a:avLst/>
          </a:prstGeom>
          <a:noFill/>
        </p:spPr>
        <p:txBody>
          <a:bodyPr wrap="square" lIns="0" rIns="0" tIns="0" bIns="0" anchor="t">
            <a:spAutoFit/>
          </a:bodyPr>
          <a:lstStyle/>
          <a:p>
            <a:pPr algn="l">
              <a:spcAft>
                <a:spcPts val="600"/>
              </a:spcAft>
            </a:pPr>
            <a:r>
              <a:rPr sz="1300" b="1">
                <a:solidFill>
                  <a:srgbClr val="E3262F"/>
                </a:solidFill>
                <a:latin typeface="Calibri"/>
              </a:rPr>
              <a:t>DECISIONS</a:t>
            </a:r>
          </a:p>
        </p:txBody>
      </p:sp>
      <p:sp>
        <p:nvSpPr>
          <p:cNvPr id="3" name="TextBox 2"/>
          <p:cNvSpPr txBox="1"/>
          <p:nvPr/>
        </p:nvSpPr>
        <p:spPr>
          <a:xfrm>
            <a:off x="548640" y="731520"/>
            <a:ext cx="11094415" cy="822960"/>
          </a:xfrm>
          <a:prstGeom prst="rect">
            <a:avLst/>
          </a:prstGeom>
          <a:noFill/>
        </p:spPr>
        <p:txBody>
          <a:bodyPr wrap="square" lIns="0" rIns="0" tIns="0" bIns="0" anchor="t">
            <a:spAutoFit/>
          </a:bodyPr>
          <a:lstStyle/>
          <a:p>
            <a:pPr algn="l">
              <a:spcAft>
                <a:spcPts val="600"/>
              </a:spcAft>
            </a:pPr>
            <a:r>
              <a:rPr sz="3200" b="0">
                <a:solidFill>
                  <a:srgbClr val="0B0F1F"/>
                </a:solidFill>
                <a:latin typeface="Arial Black"/>
              </a:rPr>
              <a:t>Three calls I need from you</a:t>
            </a:r>
          </a:p>
        </p:txBody>
      </p:sp>
      <p:sp>
        <p:nvSpPr>
          <p:cNvPr id="4" name="TextBox 3"/>
          <p:cNvSpPr txBox="1"/>
          <p:nvPr/>
        </p:nvSpPr>
        <p:spPr>
          <a:xfrm>
            <a:off x="10911535" y="6446520"/>
            <a:ext cx="822960" cy="274320"/>
          </a:xfrm>
          <a:prstGeom prst="rect">
            <a:avLst/>
          </a:prstGeom>
          <a:noFill/>
        </p:spPr>
        <p:txBody>
          <a:bodyPr wrap="square" lIns="0" rIns="0" tIns="0" bIns="0" anchor="t">
            <a:spAutoFit/>
          </a:bodyPr>
          <a:lstStyle/>
          <a:p>
            <a:pPr algn="r">
              <a:spcAft>
                <a:spcPts val="600"/>
              </a:spcAft>
            </a:pPr>
            <a:r>
              <a:rPr sz="1100" b="0">
                <a:solidFill>
                  <a:srgbClr val="4D5778"/>
                </a:solidFill>
                <a:latin typeface="Calibri"/>
              </a:rPr>
              <a:t>10 / 13</a:t>
            </a:r>
          </a:p>
        </p:txBody>
      </p:sp>
      <p:graphicFrame>
        <p:nvGraphicFramePr>
          <p:cNvPr id="5" name="Table 4"/>
          <p:cNvGraphicFramePr>
            <a:graphicFrameLocks noGrp="1"/>
          </p:cNvGraphicFramePr>
          <p:nvPr/>
        </p:nvGraphicFramePr>
        <p:xfrm>
          <a:off x="548640" y="1783080"/>
          <a:ext cx="11064240" cy="1828800"/>
        </p:xfrm>
        <a:graphic>
          <a:graphicData uri="http://schemas.openxmlformats.org/drawingml/2006/table">
            <a:tbl>
              <a:tblPr firstRow="1" bandRow="1">
                <a:tableStyleId>{5C22544A-7EE6-4342-B048-85BDC9FD1C3A}</a:tableStyleId>
              </a:tblPr>
              <a:tblGrid>
                <a:gridCol w="4206240"/>
                <a:gridCol w="6858000"/>
              </a:tblGrid>
              <a:tr h="457200">
                <a:tc>
                  <a:txBody>
                    <a:bodyPr wrap="square"/>
                    <a:lstStyle/>
                    <a:p>
                      <a:r>
                        <a:rPr sz="1300" b="1">
                          <a:solidFill>
                            <a:srgbClr val="FFFFFF"/>
                          </a:solidFill>
                          <a:latin typeface="Calibri"/>
                        </a:rPr>
                        <a:t>Decision</a:t>
                      </a:r>
                    </a:p>
                  </a:txBody>
                  <a:tcPr>
                    <a:solidFill>
                      <a:srgbClr val="0B0F1F"/>
                    </a:solidFill>
                  </a:tcPr>
                </a:tc>
                <a:tc>
                  <a:txBody>
                    <a:bodyPr wrap="square"/>
                    <a:lstStyle/>
                    <a:p>
                      <a:r>
                        <a:rPr sz="1300" b="1">
                          <a:solidFill>
                            <a:srgbClr val="FFFFFF"/>
                          </a:solidFill>
                          <a:latin typeface="Calibri"/>
                        </a:rPr>
                        <a:t>My recommendation</a:t>
                      </a:r>
                    </a:p>
                  </a:txBody>
                  <a:tcPr>
                    <a:solidFill>
                      <a:srgbClr val="0B0F1F"/>
                    </a:solidFill>
                  </a:tcPr>
                </a:tc>
              </a:tr>
              <a:tr h="457200">
                <a:tc>
                  <a:txBody>
                    <a:bodyPr wrap="square"/>
                    <a:lstStyle/>
                    <a:p>
                      <a:r>
                        <a:rPr sz="1800" b="0">
                          <a:solidFill>
                            <a:srgbClr val="0B0F1F"/>
                          </a:solidFill>
                          <a:latin typeface="Calibri"/>
                        </a:rPr>
                        <a:t>What a missed offer costs</a:t>
                      </a:r>
                    </a:p>
                  </a:txBody>
                  <a:tcPr>
                    <a:solidFill>
                      <a:srgbClr val="EEF3FF"/>
                    </a:solidFill>
                  </a:tcPr>
                </a:tc>
                <a:tc>
                  <a:txBody>
                    <a:bodyPr wrap="square"/>
                    <a:lstStyle/>
                    <a:p>
                      <a:r>
                        <a:rPr sz="1800" b="0">
                          <a:solidFill>
                            <a:srgbClr val="0B0F1F"/>
                          </a:solidFill>
                          <a:latin typeface="Calibri"/>
                        </a:rPr>
                        <a:t>Nothing; a “no” still counts. Revisit if filling slows by 10+ seconds.</a:t>
                      </a:r>
                    </a:p>
                  </a:txBody>
                  <a:tcPr>
                    <a:solidFill>
                      <a:srgbClr val="EEF3FF"/>
                    </a:solidFill>
                  </a:tcPr>
                </a:tc>
              </a:tr>
              <a:tr h="457200">
                <a:tc>
                  <a:txBody>
                    <a:bodyPr wrap="square"/>
                    <a:lstStyle/>
                    <a:p>
                      <a:r>
                        <a:rPr sz="1800" b="0">
                          <a:solidFill>
                            <a:srgbClr val="0B0F1F"/>
                          </a:solidFill>
                          <a:latin typeface="Calibri"/>
                        </a:rPr>
                        <a:t>Reset the four now, or wait for data</a:t>
                      </a:r>
                    </a:p>
                  </a:txBody>
                  <a:tcPr>
                    <a:solidFill>
                      <a:srgbClr val="FFFFFF"/>
                    </a:solidFill>
                  </a:tcPr>
                </a:tc>
                <a:tc>
                  <a:txBody>
                    <a:bodyPr wrap="square"/>
                    <a:lstStyle/>
                    <a:p>
                      <a:r>
                        <a:rPr sz="1800" b="0">
                          <a:solidFill>
                            <a:srgbClr val="0B0F1F"/>
                          </a:solidFill>
                          <a:latin typeface="Calibri"/>
                        </a:rPr>
                        <a:t>Now, once Dot and Kip confirm the phones work.</a:t>
                      </a:r>
                    </a:p>
                  </a:txBody>
                  <a:tcPr>
                    <a:solidFill>
                      <a:srgbClr val="FFFFFF"/>
                    </a:solidFill>
                  </a:tcPr>
                </a:tc>
              </a:tr>
              <a:tr h="457200">
                <a:tc>
                  <a:txBody>
                    <a:bodyPr wrap="square"/>
                    <a:lstStyle/>
                    <a:p>
                      <a:r>
                        <a:rPr sz="1800" b="0">
                          <a:solidFill>
                            <a:srgbClr val="0B0F1F"/>
                          </a:solidFill>
                          <a:latin typeface="Calibri"/>
                        </a:rPr>
                        <a:t>“Put me first” limits</a:t>
                      </a:r>
                    </a:p>
                  </a:txBody>
                  <a:tcPr>
                    <a:solidFill>
                      <a:srgbClr val="EEF3FF"/>
                    </a:solidFill>
                  </a:tcPr>
                </a:tc>
                <a:tc>
                  <a:txBody>
                    <a:bodyPr wrap="square"/>
                    <a:lstStyle/>
                    <a:p>
                      <a:r>
                        <a:rPr sz="1800" b="0">
                          <a:solidFill>
                            <a:srgbClr val="0B0F1F"/>
                          </a:solidFill>
                          <a:latin typeface="Calibri"/>
                        </a:rPr>
                        <a:t>Tight: 15-min drive, matching skills, 30 min, once every 4 hours.</a:t>
                      </a:r>
                    </a:p>
                  </a:txBody>
                  <a:tcPr>
                    <a:solidFill>
                      <a:srgbClr val="EEF3FF"/>
                    </a:solidFill>
                  </a:tcPr>
                </a:tc>
              </a:tr>
            </a:tbl>
          </a:graphicData>
        </a:graphic>
      </p:graphicFrame>
      <p:sp>
        <p:nvSpPr>
          <p:cNvPr id="6" name="TextBox 5"/>
          <p:cNvSpPr txBox="1"/>
          <p:nvPr/>
        </p:nvSpPr>
        <p:spPr>
          <a:xfrm>
            <a:off x="548640" y="4206240"/>
            <a:ext cx="10972800" cy="822960"/>
          </a:xfrm>
          <a:prstGeom prst="rect">
            <a:avLst/>
          </a:prstGeom>
          <a:noFill/>
        </p:spPr>
        <p:txBody>
          <a:bodyPr wrap="square" lIns="0" rIns="0" tIns="0" bIns="0" anchor="t">
            <a:spAutoFit/>
          </a:bodyPr>
          <a:lstStyle/>
          <a:p>
            <a:pPr algn="l">
              <a:spcAft>
                <a:spcPts val="600"/>
              </a:spcAft>
            </a:pPr>
            <a:r>
              <a:rPr sz="1700" b="0">
                <a:solidFill>
                  <a:srgbClr val="4D5778"/>
                </a:solidFill>
                <a:latin typeface="Calibri"/>
              </a:rPr>
              <a:t>Also: room in the next release, Sofia’s time, a yes to writing “how routing decides”, and 10 minutes on Availability Confidence.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8229600" cy="320040"/>
          </a:xfrm>
          <a:prstGeom prst="rect">
            <a:avLst/>
          </a:prstGeom>
          <a:noFill/>
        </p:spPr>
        <p:txBody>
          <a:bodyPr wrap="square" lIns="0" rIns="0" tIns="0" bIns="0" anchor="t">
            <a:spAutoFit/>
          </a:bodyPr>
          <a:lstStyle/>
          <a:p>
            <a:pPr algn="l">
              <a:spcAft>
                <a:spcPts val="600"/>
              </a:spcAft>
            </a:pPr>
            <a:r>
              <a:rPr sz="1300" b="1">
                <a:solidFill>
                  <a:srgbClr val="E3262F"/>
                </a:solidFill>
                <a:latin typeface="Calibri"/>
              </a:rPr>
              <a:t>SUCCESS</a:t>
            </a:r>
          </a:p>
        </p:txBody>
      </p:sp>
      <p:sp>
        <p:nvSpPr>
          <p:cNvPr id="3" name="TextBox 2"/>
          <p:cNvSpPr txBox="1"/>
          <p:nvPr/>
        </p:nvSpPr>
        <p:spPr>
          <a:xfrm>
            <a:off x="548640" y="731520"/>
            <a:ext cx="11094415" cy="822960"/>
          </a:xfrm>
          <a:prstGeom prst="rect">
            <a:avLst/>
          </a:prstGeom>
          <a:noFill/>
        </p:spPr>
        <p:txBody>
          <a:bodyPr wrap="square" lIns="0" rIns="0" tIns="0" bIns="0" anchor="t">
            <a:spAutoFit/>
          </a:bodyPr>
          <a:lstStyle/>
          <a:p>
            <a:pPr algn="l">
              <a:spcAft>
                <a:spcPts val="600"/>
              </a:spcAft>
            </a:pPr>
            <a:r>
              <a:rPr sz="3200" b="0">
                <a:solidFill>
                  <a:srgbClr val="0B0F1F"/>
                </a:solidFill>
                <a:latin typeface="Arial Black"/>
              </a:rPr>
              <a:t>How we'll know it worked</a:t>
            </a:r>
          </a:p>
        </p:txBody>
      </p:sp>
      <p:sp>
        <p:nvSpPr>
          <p:cNvPr id="4" name="TextBox 3"/>
          <p:cNvSpPr txBox="1"/>
          <p:nvPr/>
        </p:nvSpPr>
        <p:spPr>
          <a:xfrm>
            <a:off x="10911535" y="6446520"/>
            <a:ext cx="822960" cy="274320"/>
          </a:xfrm>
          <a:prstGeom prst="rect">
            <a:avLst/>
          </a:prstGeom>
          <a:noFill/>
        </p:spPr>
        <p:txBody>
          <a:bodyPr wrap="square" lIns="0" rIns="0" tIns="0" bIns="0" anchor="t">
            <a:spAutoFit/>
          </a:bodyPr>
          <a:lstStyle/>
          <a:p>
            <a:pPr algn="r">
              <a:spcAft>
                <a:spcPts val="600"/>
              </a:spcAft>
            </a:pPr>
            <a:r>
              <a:rPr sz="1100" b="0">
                <a:solidFill>
                  <a:srgbClr val="4D5778"/>
                </a:solidFill>
                <a:latin typeface="Calibri"/>
              </a:rPr>
              <a:t>11 / 13</a:t>
            </a:r>
          </a:p>
        </p:txBody>
      </p:sp>
      <p:sp>
        <p:nvSpPr>
          <p:cNvPr id="5" name="Rounded Rectangle 4"/>
          <p:cNvSpPr/>
          <p:nvPr/>
        </p:nvSpPr>
        <p:spPr>
          <a:xfrm>
            <a:off x="612647" y="1847088"/>
            <a:ext cx="5349240" cy="1737360"/>
          </a:xfrm>
          <a:prstGeom prst="roundRect">
            <a:avLst>
              <a:gd name="adj" fmla="val 8000"/>
            </a:avLst>
          </a:prstGeom>
          <a:solidFill>
            <a:srgbClr val="0B0F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783080"/>
            <a:ext cx="5349240" cy="1737360"/>
          </a:xfrm>
          <a:prstGeom prst="roundRect">
            <a:avLst>
              <a:gd name="adj" fmla="val 8000"/>
            </a:avLst>
          </a:prstGeom>
          <a:solidFill>
            <a:srgbClr val="13A862"/>
          </a:solidFill>
          <a:ln w="28575">
            <a:solidFill>
              <a:srgbClr val="0B0F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965960"/>
            <a:ext cx="4892040" cy="411480"/>
          </a:xfrm>
          <a:prstGeom prst="rect">
            <a:avLst/>
          </a:prstGeom>
          <a:noFill/>
        </p:spPr>
        <p:txBody>
          <a:bodyPr wrap="square" lIns="0" rIns="0" tIns="0" bIns="0" anchor="t">
            <a:spAutoFit/>
          </a:bodyPr>
          <a:lstStyle/>
          <a:p>
            <a:pPr algn="l">
              <a:spcAft>
                <a:spcPts val="600"/>
              </a:spcAft>
            </a:pPr>
            <a:r>
              <a:rPr sz="1600" b="0">
                <a:solidFill>
                  <a:srgbClr val="FFFFFF"/>
                </a:solidFill>
                <a:latin typeface="Arial Black"/>
              </a:rPr>
              <a:t>4 of 4 back</a:t>
            </a:r>
          </a:p>
        </p:txBody>
      </p:sp>
      <p:sp>
        <p:nvSpPr>
          <p:cNvPr id="8" name="TextBox 7"/>
          <p:cNvSpPr txBox="1"/>
          <p:nvPr/>
        </p:nvSpPr>
        <p:spPr>
          <a:xfrm>
            <a:off x="777240" y="2441448"/>
            <a:ext cx="4892040" cy="960119"/>
          </a:xfrm>
          <a:prstGeom prst="rect">
            <a:avLst/>
          </a:prstGeom>
          <a:noFill/>
        </p:spPr>
        <p:txBody>
          <a:bodyPr wrap="square" lIns="0" rIns="0" tIns="0" bIns="0" anchor="t">
            <a:spAutoFit/>
          </a:bodyPr>
          <a:lstStyle/>
          <a:p>
            <a:pPr algn="l">
              <a:spcAft>
                <a:spcPts val="600"/>
              </a:spcAft>
            </a:pPr>
            <a:r>
              <a:rPr sz="1500" b="0">
                <a:solidFill>
                  <a:srgbClr val="FFFFFF"/>
                </a:solidFill>
                <a:latin typeface="Calibri"/>
              </a:rPr>
              <a:t>Stuck responders at ≥50% of their usual offers within 3 weeks.</a:t>
            </a:r>
          </a:p>
        </p:txBody>
      </p:sp>
      <p:sp>
        <p:nvSpPr>
          <p:cNvPr id="9" name="Rounded Rectangle 8"/>
          <p:cNvSpPr/>
          <p:nvPr/>
        </p:nvSpPr>
        <p:spPr>
          <a:xfrm>
            <a:off x="6327648" y="1847088"/>
            <a:ext cx="5349240" cy="1737360"/>
          </a:xfrm>
          <a:prstGeom prst="roundRect">
            <a:avLst>
              <a:gd name="adj" fmla="val 8000"/>
            </a:avLst>
          </a:prstGeom>
          <a:solidFill>
            <a:srgbClr val="0B0F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263640" y="1783080"/>
            <a:ext cx="5349240" cy="1737360"/>
          </a:xfrm>
          <a:prstGeom prst="roundRect">
            <a:avLst>
              <a:gd name="adj" fmla="val 8000"/>
            </a:avLst>
          </a:prstGeom>
          <a:solidFill>
            <a:srgbClr val="1F4FD8"/>
          </a:solidFill>
          <a:ln w="28575">
            <a:solidFill>
              <a:srgbClr val="0B0F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965960"/>
            <a:ext cx="4892040" cy="411480"/>
          </a:xfrm>
          <a:prstGeom prst="rect">
            <a:avLst/>
          </a:prstGeom>
          <a:noFill/>
        </p:spPr>
        <p:txBody>
          <a:bodyPr wrap="square" lIns="0" rIns="0" tIns="0" bIns="0" anchor="t">
            <a:spAutoFit/>
          </a:bodyPr>
          <a:lstStyle/>
          <a:p>
            <a:pPr algn="l">
              <a:spcAft>
                <a:spcPts val="600"/>
              </a:spcAft>
            </a:pPr>
            <a:r>
              <a:rPr sz="1600" b="0">
                <a:solidFill>
                  <a:srgbClr val="FFFFFF"/>
                </a:solidFill>
                <a:latin typeface="Arial Black"/>
              </a:rPr>
              <a:t>~132 filled / week</a:t>
            </a:r>
          </a:p>
        </p:txBody>
      </p:sp>
      <p:sp>
        <p:nvSpPr>
          <p:cNvPr id="12" name="TextBox 11"/>
          <p:cNvSpPr txBox="1"/>
          <p:nvPr/>
        </p:nvSpPr>
        <p:spPr>
          <a:xfrm>
            <a:off x="6492240" y="2441448"/>
            <a:ext cx="4892040" cy="960119"/>
          </a:xfrm>
          <a:prstGeom prst="rect">
            <a:avLst/>
          </a:prstGeom>
          <a:noFill/>
        </p:spPr>
        <p:txBody>
          <a:bodyPr wrap="square" lIns="0" rIns="0" tIns="0" bIns="0" anchor="t">
            <a:spAutoFit/>
          </a:bodyPr>
          <a:lstStyle/>
          <a:p>
            <a:pPr algn="l">
              <a:spcAft>
                <a:spcPts val="600"/>
              </a:spcAft>
            </a:pPr>
            <a:r>
              <a:rPr sz="1500" b="0">
                <a:solidFill>
                  <a:srgbClr val="FFFFFF"/>
                </a:solidFill>
                <a:latin typeface="Calibri"/>
              </a:rPr>
              <a:t>Callouts filled back to normal (now ~120), reported next to acceptance rate.</a:t>
            </a:r>
          </a:p>
        </p:txBody>
      </p:sp>
      <p:sp>
        <p:nvSpPr>
          <p:cNvPr id="13" name="Rounded Rectangle 12"/>
          <p:cNvSpPr/>
          <p:nvPr/>
        </p:nvSpPr>
        <p:spPr>
          <a:xfrm>
            <a:off x="612647" y="3904488"/>
            <a:ext cx="5349240" cy="1737360"/>
          </a:xfrm>
          <a:prstGeom prst="roundRect">
            <a:avLst>
              <a:gd name="adj" fmla="val 8000"/>
            </a:avLst>
          </a:prstGeom>
          <a:solidFill>
            <a:srgbClr val="0B0F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548640" y="3840480"/>
            <a:ext cx="5349240" cy="1737360"/>
          </a:xfrm>
          <a:prstGeom prst="roundRect">
            <a:avLst>
              <a:gd name="adj" fmla="val 8000"/>
            </a:avLst>
          </a:prstGeom>
          <a:solidFill>
            <a:srgbClr val="FFCC1F"/>
          </a:solidFill>
          <a:ln w="28575">
            <a:solidFill>
              <a:srgbClr val="0B0F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4023360"/>
            <a:ext cx="4892040" cy="411480"/>
          </a:xfrm>
          <a:prstGeom prst="rect">
            <a:avLst/>
          </a:prstGeom>
          <a:noFill/>
        </p:spPr>
        <p:txBody>
          <a:bodyPr wrap="square" lIns="0" rIns="0" tIns="0" bIns="0" anchor="t">
            <a:spAutoFit/>
          </a:bodyPr>
          <a:lstStyle/>
          <a:p>
            <a:pPr algn="l">
              <a:spcAft>
                <a:spcPts val="600"/>
              </a:spcAft>
            </a:pPr>
            <a:r>
              <a:rPr sz="1600" b="0">
                <a:solidFill>
                  <a:srgbClr val="0B0F1F"/>
                </a:solidFill>
                <a:latin typeface="Arial Black"/>
              </a:rPr>
              <a:t>Half the tickets</a:t>
            </a:r>
          </a:p>
        </p:txBody>
      </p:sp>
      <p:sp>
        <p:nvSpPr>
          <p:cNvPr id="16" name="TextBox 15"/>
          <p:cNvSpPr txBox="1"/>
          <p:nvPr/>
        </p:nvSpPr>
        <p:spPr>
          <a:xfrm>
            <a:off x="777240" y="4498848"/>
            <a:ext cx="4892040" cy="960119"/>
          </a:xfrm>
          <a:prstGeom prst="rect">
            <a:avLst/>
          </a:prstGeom>
          <a:noFill/>
        </p:spPr>
        <p:txBody>
          <a:bodyPr wrap="square" lIns="0" rIns="0" tIns="0" bIns="0" anchor="t">
            <a:spAutoFit/>
          </a:bodyPr>
          <a:lstStyle/>
          <a:p>
            <a:pPr algn="l">
              <a:spcAft>
                <a:spcPts val="600"/>
              </a:spcAft>
            </a:pPr>
            <a:r>
              <a:rPr sz="1500" b="0">
                <a:solidFill>
                  <a:srgbClr val="0B0F1F"/>
                </a:solidFill>
                <a:latin typeface="Calibri"/>
              </a:rPr>
              <a:t>“Is my account broken?” tickets fall by half.</a:t>
            </a:r>
          </a:p>
        </p:txBody>
      </p:sp>
      <p:sp>
        <p:nvSpPr>
          <p:cNvPr id="17" name="Rounded Rectangle 16"/>
          <p:cNvSpPr/>
          <p:nvPr/>
        </p:nvSpPr>
        <p:spPr>
          <a:xfrm>
            <a:off x="6327648" y="3904488"/>
            <a:ext cx="5349240" cy="1737360"/>
          </a:xfrm>
          <a:prstGeom prst="roundRect">
            <a:avLst>
              <a:gd name="adj" fmla="val 8000"/>
            </a:avLst>
          </a:prstGeom>
          <a:solidFill>
            <a:srgbClr val="0B0F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263640" y="3840480"/>
            <a:ext cx="5349240" cy="1737360"/>
          </a:xfrm>
          <a:prstGeom prst="roundRect">
            <a:avLst>
              <a:gd name="adj" fmla="val 8000"/>
            </a:avLst>
          </a:prstGeom>
          <a:solidFill>
            <a:srgbClr val="EEF3FF"/>
          </a:solidFill>
          <a:ln w="28575">
            <a:solidFill>
              <a:srgbClr val="0B0F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92240" y="4023360"/>
            <a:ext cx="4892040" cy="411480"/>
          </a:xfrm>
          <a:prstGeom prst="rect">
            <a:avLst/>
          </a:prstGeom>
          <a:noFill/>
        </p:spPr>
        <p:txBody>
          <a:bodyPr wrap="square" lIns="0" rIns="0" tIns="0" bIns="0" anchor="t">
            <a:spAutoFit/>
          </a:bodyPr>
          <a:lstStyle/>
          <a:p>
            <a:pPr algn="l">
              <a:spcAft>
                <a:spcPts val="600"/>
              </a:spcAft>
            </a:pPr>
            <a:r>
              <a:rPr sz="1600" b="0">
                <a:solidFill>
                  <a:srgbClr val="0B0F1F"/>
                </a:solidFill>
                <a:latin typeface="Arial Black"/>
              </a:rPr>
              <a:t>Guardrails</a:t>
            </a:r>
          </a:p>
        </p:txBody>
      </p:sp>
      <p:sp>
        <p:nvSpPr>
          <p:cNvPr id="20" name="TextBox 19"/>
          <p:cNvSpPr txBox="1"/>
          <p:nvPr/>
        </p:nvSpPr>
        <p:spPr>
          <a:xfrm>
            <a:off x="6492240" y="4498848"/>
            <a:ext cx="4892040" cy="960119"/>
          </a:xfrm>
          <a:prstGeom prst="rect">
            <a:avLst/>
          </a:prstGeom>
          <a:noFill/>
        </p:spPr>
        <p:txBody>
          <a:bodyPr wrap="square" lIns="0" rIns="0" tIns="0" bIns="0" anchor="t">
            <a:spAutoFit/>
          </a:bodyPr>
          <a:lstStyle/>
          <a:p>
            <a:pPr algn="l">
              <a:spcAft>
                <a:spcPts val="600"/>
              </a:spcAft>
            </a:pPr>
            <a:r>
              <a:rPr sz="1500" b="0">
                <a:solidFill>
                  <a:srgbClr val="0B0F1F"/>
                </a:solidFill>
                <a:latin typeface="Calibri"/>
              </a:rPr>
              <a:t>Filling a callout slows by ≤10 s. First-in-line accept rate stays near normal.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8229600" cy="320040"/>
          </a:xfrm>
          <a:prstGeom prst="rect">
            <a:avLst/>
          </a:prstGeom>
          <a:noFill/>
        </p:spPr>
        <p:txBody>
          <a:bodyPr wrap="square" lIns="0" rIns="0" tIns="0" bIns="0" anchor="t">
            <a:spAutoFit/>
          </a:bodyPr>
          <a:lstStyle/>
          <a:p>
            <a:pPr algn="l">
              <a:spcAft>
                <a:spcPts val="600"/>
              </a:spcAft>
            </a:pPr>
            <a:r>
              <a:rPr sz="1300" b="1">
                <a:solidFill>
                  <a:srgbClr val="E3262F"/>
                </a:solidFill>
                <a:latin typeface="Calibri"/>
              </a:rPr>
              <a:t>ROLLOUT</a:t>
            </a:r>
          </a:p>
        </p:txBody>
      </p:sp>
      <p:sp>
        <p:nvSpPr>
          <p:cNvPr id="3" name="TextBox 2"/>
          <p:cNvSpPr txBox="1"/>
          <p:nvPr/>
        </p:nvSpPr>
        <p:spPr>
          <a:xfrm>
            <a:off x="548640" y="731520"/>
            <a:ext cx="11094415" cy="822960"/>
          </a:xfrm>
          <a:prstGeom prst="rect">
            <a:avLst/>
          </a:prstGeom>
          <a:noFill/>
        </p:spPr>
        <p:txBody>
          <a:bodyPr wrap="square" lIns="0" rIns="0" tIns="0" bIns="0" anchor="t">
            <a:spAutoFit/>
          </a:bodyPr>
          <a:lstStyle/>
          <a:p>
            <a:pPr algn="l">
              <a:spcAft>
                <a:spcPts val="600"/>
              </a:spcAft>
            </a:pPr>
            <a:r>
              <a:rPr sz="3200" b="0">
                <a:solidFill>
                  <a:srgbClr val="0B0F1F"/>
                </a:solidFill>
                <a:latin typeface="Arial Black"/>
              </a:rPr>
              <a:t>Five phases, one risk to check first</a:t>
            </a:r>
          </a:p>
        </p:txBody>
      </p:sp>
      <p:sp>
        <p:nvSpPr>
          <p:cNvPr id="4" name="TextBox 3"/>
          <p:cNvSpPr txBox="1"/>
          <p:nvPr/>
        </p:nvSpPr>
        <p:spPr>
          <a:xfrm>
            <a:off x="10911535" y="6446520"/>
            <a:ext cx="822960" cy="274320"/>
          </a:xfrm>
          <a:prstGeom prst="rect">
            <a:avLst/>
          </a:prstGeom>
          <a:noFill/>
        </p:spPr>
        <p:txBody>
          <a:bodyPr wrap="square" lIns="0" rIns="0" tIns="0" bIns="0" anchor="t">
            <a:spAutoFit/>
          </a:bodyPr>
          <a:lstStyle/>
          <a:p>
            <a:pPr algn="r">
              <a:spcAft>
                <a:spcPts val="600"/>
              </a:spcAft>
            </a:pPr>
            <a:r>
              <a:rPr sz="1100" b="0">
                <a:solidFill>
                  <a:srgbClr val="4D5778"/>
                </a:solidFill>
                <a:latin typeface="Calibri"/>
              </a:rPr>
              <a:t>12 / 13</a:t>
            </a:r>
          </a:p>
        </p:txBody>
      </p:sp>
      <p:sp>
        <p:nvSpPr>
          <p:cNvPr id="5" name="Rounded Rectangle 4"/>
          <p:cNvSpPr/>
          <p:nvPr/>
        </p:nvSpPr>
        <p:spPr>
          <a:xfrm>
            <a:off x="603503" y="1792224"/>
            <a:ext cx="2057400" cy="1828800"/>
          </a:xfrm>
          <a:prstGeom prst="roundRect">
            <a:avLst>
              <a:gd name="adj" fmla="val 8000"/>
            </a:avLst>
          </a:prstGeom>
          <a:solidFill>
            <a:srgbClr val="0B0F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737360"/>
            <a:ext cx="2057400" cy="1828800"/>
          </a:xfrm>
          <a:prstGeom prst="roundRect">
            <a:avLst>
              <a:gd name="adj" fmla="val 8000"/>
            </a:avLst>
          </a:prstGeom>
          <a:solidFill>
            <a:srgbClr val="EEF3FF"/>
          </a:solidFill>
          <a:ln w="28575">
            <a:solidFill>
              <a:srgbClr val="0B0F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1874519"/>
            <a:ext cx="1728216" cy="685800"/>
          </a:xfrm>
          <a:prstGeom prst="rect">
            <a:avLst/>
          </a:prstGeom>
          <a:noFill/>
        </p:spPr>
        <p:txBody>
          <a:bodyPr wrap="square" lIns="0" rIns="0" tIns="0" bIns="0" anchor="t">
            <a:spAutoFit/>
          </a:bodyPr>
          <a:lstStyle/>
          <a:p>
            <a:pPr algn="l">
              <a:spcAft>
                <a:spcPts val="600"/>
              </a:spcAft>
            </a:pPr>
            <a:r>
              <a:rPr sz="1400" b="0">
                <a:solidFill>
                  <a:srgbClr val="E3262F"/>
                </a:solidFill>
                <a:latin typeface="Arial Black"/>
              </a:rPr>
              <a:t>1 · Logging</a:t>
            </a:r>
          </a:p>
        </p:txBody>
      </p:sp>
      <p:sp>
        <p:nvSpPr>
          <p:cNvPr id="8" name="TextBox 7"/>
          <p:cNvSpPr txBox="1"/>
          <p:nvPr/>
        </p:nvSpPr>
        <p:spPr>
          <a:xfrm>
            <a:off x="713232" y="2606040"/>
            <a:ext cx="1728216" cy="914400"/>
          </a:xfrm>
          <a:prstGeom prst="rect">
            <a:avLst/>
          </a:prstGeom>
          <a:noFill/>
        </p:spPr>
        <p:txBody>
          <a:bodyPr wrap="square" lIns="0" rIns="0" tIns="0" bIns="0" anchor="t">
            <a:spAutoFit/>
          </a:bodyPr>
          <a:lstStyle/>
          <a:p>
            <a:pPr algn="l">
              <a:spcAft>
                <a:spcPts val="600"/>
              </a:spcAft>
            </a:pPr>
            <a:r>
              <a:rPr sz="1400" b="0">
                <a:solidFill>
                  <a:srgbClr val="0B0F1F"/>
                </a:solidFill>
                <a:latin typeface="Calibri"/>
              </a:rPr>
              <a:t>Every offer: sent, delivered, seen, answered, reason.</a:t>
            </a:r>
          </a:p>
        </p:txBody>
      </p:sp>
      <p:sp>
        <p:nvSpPr>
          <p:cNvPr id="9" name="Rounded Rectangle 8"/>
          <p:cNvSpPr/>
          <p:nvPr/>
        </p:nvSpPr>
        <p:spPr>
          <a:xfrm>
            <a:off x="2852928" y="1792224"/>
            <a:ext cx="2057400" cy="1828800"/>
          </a:xfrm>
          <a:prstGeom prst="roundRect">
            <a:avLst>
              <a:gd name="adj" fmla="val 8000"/>
            </a:avLst>
          </a:prstGeom>
          <a:solidFill>
            <a:srgbClr val="0B0F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2798064" y="1737360"/>
            <a:ext cx="2057400" cy="1828800"/>
          </a:xfrm>
          <a:prstGeom prst="roundRect">
            <a:avLst>
              <a:gd name="adj" fmla="val 8000"/>
            </a:avLst>
          </a:prstGeom>
          <a:solidFill>
            <a:srgbClr val="EEF3FF"/>
          </a:solidFill>
          <a:ln w="28575">
            <a:solidFill>
              <a:srgbClr val="0B0F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962656" y="1874519"/>
            <a:ext cx="1728216" cy="685800"/>
          </a:xfrm>
          <a:prstGeom prst="rect">
            <a:avLst/>
          </a:prstGeom>
          <a:noFill/>
        </p:spPr>
        <p:txBody>
          <a:bodyPr wrap="square" lIns="0" rIns="0" tIns="0" bIns="0" anchor="t">
            <a:spAutoFit/>
          </a:bodyPr>
          <a:lstStyle/>
          <a:p>
            <a:pPr algn="l">
              <a:spcAft>
                <a:spcPts val="600"/>
              </a:spcAft>
            </a:pPr>
            <a:r>
              <a:rPr sz="1400" b="0">
                <a:solidFill>
                  <a:srgbClr val="E3262F"/>
                </a:solidFill>
                <a:latin typeface="Arial Black"/>
              </a:rPr>
              <a:t>2 · Fair scoring</a:t>
            </a:r>
          </a:p>
        </p:txBody>
      </p:sp>
      <p:sp>
        <p:nvSpPr>
          <p:cNvPr id="12" name="TextBox 11"/>
          <p:cNvSpPr txBox="1"/>
          <p:nvPr/>
        </p:nvSpPr>
        <p:spPr>
          <a:xfrm>
            <a:off x="2962656" y="2606040"/>
            <a:ext cx="1728216" cy="914400"/>
          </a:xfrm>
          <a:prstGeom prst="rect">
            <a:avLst/>
          </a:prstGeom>
          <a:noFill/>
        </p:spPr>
        <p:txBody>
          <a:bodyPr wrap="square" lIns="0" rIns="0" tIns="0" bIns="0" anchor="t">
            <a:spAutoFit/>
          </a:bodyPr>
          <a:lstStyle/>
          <a:p>
            <a:pPr algn="l">
              <a:spcAft>
                <a:spcPts val="600"/>
              </a:spcAft>
            </a:pPr>
            <a:r>
              <a:rPr sz="1400" b="0">
                <a:solidFill>
                  <a:srgbClr val="0B0F1F"/>
                </a:solidFill>
                <a:latin typeface="Calibri"/>
              </a:rPr>
              <a:t>Misses cost nothing; reset the four.</a:t>
            </a:r>
          </a:p>
        </p:txBody>
      </p:sp>
      <p:sp>
        <p:nvSpPr>
          <p:cNvPr id="13" name="Rounded Rectangle 12"/>
          <p:cNvSpPr/>
          <p:nvPr/>
        </p:nvSpPr>
        <p:spPr>
          <a:xfrm>
            <a:off x="5102351" y="1792224"/>
            <a:ext cx="2057400" cy="1828800"/>
          </a:xfrm>
          <a:prstGeom prst="roundRect">
            <a:avLst>
              <a:gd name="adj" fmla="val 8000"/>
            </a:avLst>
          </a:prstGeom>
          <a:solidFill>
            <a:srgbClr val="0B0F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5047488" y="1737360"/>
            <a:ext cx="2057400" cy="1828800"/>
          </a:xfrm>
          <a:prstGeom prst="roundRect">
            <a:avLst>
              <a:gd name="adj" fmla="val 8000"/>
            </a:avLst>
          </a:prstGeom>
          <a:solidFill>
            <a:srgbClr val="EEF3FF"/>
          </a:solidFill>
          <a:ln w="28575">
            <a:solidFill>
              <a:srgbClr val="0B0F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79" y="1874519"/>
            <a:ext cx="1728216" cy="685800"/>
          </a:xfrm>
          <a:prstGeom prst="rect">
            <a:avLst/>
          </a:prstGeom>
          <a:noFill/>
        </p:spPr>
        <p:txBody>
          <a:bodyPr wrap="square" lIns="0" rIns="0" tIns="0" bIns="0" anchor="t">
            <a:spAutoFit/>
          </a:bodyPr>
          <a:lstStyle/>
          <a:p>
            <a:pPr algn="l">
              <a:spcAft>
                <a:spcPts val="600"/>
              </a:spcAft>
            </a:pPr>
            <a:r>
              <a:rPr sz="1400" b="0">
                <a:solidFill>
                  <a:srgbClr val="E3262F"/>
                </a:solidFill>
                <a:latin typeface="Arial Black"/>
              </a:rPr>
              <a:t>3 · The signal</a:t>
            </a:r>
          </a:p>
        </p:txBody>
      </p:sp>
      <p:sp>
        <p:nvSpPr>
          <p:cNvPr id="16" name="TextBox 15"/>
          <p:cNvSpPr txBox="1"/>
          <p:nvPr/>
        </p:nvSpPr>
        <p:spPr>
          <a:xfrm>
            <a:off x="5212079" y="2606040"/>
            <a:ext cx="1728216" cy="914400"/>
          </a:xfrm>
          <a:prstGeom prst="rect">
            <a:avLst/>
          </a:prstGeom>
          <a:noFill/>
        </p:spPr>
        <p:txBody>
          <a:bodyPr wrap="square" lIns="0" rIns="0" tIns="0" bIns="0" anchor="t">
            <a:spAutoFit/>
          </a:bodyPr>
          <a:lstStyle/>
          <a:p>
            <a:pPr algn="l">
              <a:spcAft>
                <a:spcPts val="600"/>
              </a:spcAft>
            </a:pPr>
            <a:r>
              <a:rPr sz="1400" b="0">
                <a:solidFill>
                  <a:srgbClr val="0B0F1F"/>
                </a:solidFill>
                <a:latin typeface="Calibri"/>
              </a:rPr>
              <a:t>Context, leave-by, grace window.</a:t>
            </a:r>
          </a:p>
        </p:txBody>
      </p:sp>
      <p:sp>
        <p:nvSpPr>
          <p:cNvPr id="17" name="Rounded Rectangle 16"/>
          <p:cNvSpPr/>
          <p:nvPr/>
        </p:nvSpPr>
        <p:spPr>
          <a:xfrm>
            <a:off x="7351775" y="1792224"/>
            <a:ext cx="2057400" cy="1828800"/>
          </a:xfrm>
          <a:prstGeom prst="roundRect">
            <a:avLst>
              <a:gd name="adj" fmla="val 8000"/>
            </a:avLst>
          </a:prstGeom>
          <a:solidFill>
            <a:srgbClr val="0B0F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7296912" y="1737360"/>
            <a:ext cx="2057400" cy="1828800"/>
          </a:xfrm>
          <a:prstGeom prst="roundRect">
            <a:avLst>
              <a:gd name="adj" fmla="val 8000"/>
            </a:avLst>
          </a:prstGeom>
          <a:solidFill>
            <a:srgbClr val="EEF3FF"/>
          </a:solidFill>
          <a:ln w="28575">
            <a:solidFill>
              <a:srgbClr val="0B0F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61504" y="1874519"/>
            <a:ext cx="1728216" cy="685800"/>
          </a:xfrm>
          <a:prstGeom prst="rect">
            <a:avLst/>
          </a:prstGeom>
          <a:noFill/>
        </p:spPr>
        <p:txBody>
          <a:bodyPr wrap="square" lIns="0" rIns="0" tIns="0" bIns="0" anchor="t">
            <a:spAutoFit/>
          </a:bodyPr>
          <a:lstStyle/>
          <a:p>
            <a:pPr algn="l">
              <a:spcAft>
                <a:spcPts val="600"/>
              </a:spcAft>
            </a:pPr>
            <a:r>
              <a:rPr sz="1400" b="0">
                <a:solidFill>
                  <a:srgbClr val="E3262F"/>
                </a:solidFill>
                <a:latin typeface="Arial Black"/>
              </a:rPr>
              <a:t>4 · Missed + controls</a:t>
            </a:r>
          </a:p>
        </p:txBody>
      </p:sp>
      <p:sp>
        <p:nvSpPr>
          <p:cNvPr id="20" name="TextBox 19"/>
          <p:cNvSpPr txBox="1"/>
          <p:nvPr/>
        </p:nvSpPr>
        <p:spPr>
          <a:xfrm>
            <a:off x="7461504" y="2606040"/>
            <a:ext cx="1728216" cy="914400"/>
          </a:xfrm>
          <a:prstGeom prst="rect">
            <a:avLst/>
          </a:prstGeom>
          <a:noFill/>
        </p:spPr>
        <p:txBody>
          <a:bodyPr wrap="square" lIns="0" rIns="0" tIns="0" bIns="0" anchor="t">
            <a:spAutoFit/>
          </a:bodyPr>
          <a:lstStyle/>
          <a:p>
            <a:pPr algn="l">
              <a:spcAft>
                <a:spcPts val="600"/>
              </a:spcAft>
            </a:pPr>
            <a:r>
              <a:rPr sz="1400" b="0">
                <a:solidFill>
                  <a:srgbClr val="0B0F1F"/>
                </a:solidFill>
                <a:latin typeface="Calibri"/>
              </a:rPr>
              <a:t>Reasons, mission log, put me first.</a:t>
            </a:r>
          </a:p>
        </p:txBody>
      </p:sp>
      <p:sp>
        <p:nvSpPr>
          <p:cNvPr id="21" name="Rounded Rectangle 20"/>
          <p:cNvSpPr/>
          <p:nvPr/>
        </p:nvSpPr>
        <p:spPr>
          <a:xfrm>
            <a:off x="9601200" y="1792224"/>
            <a:ext cx="2057400" cy="1828800"/>
          </a:xfrm>
          <a:prstGeom prst="roundRect">
            <a:avLst>
              <a:gd name="adj" fmla="val 8000"/>
            </a:avLst>
          </a:prstGeom>
          <a:solidFill>
            <a:srgbClr val="0B0F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9546336" y="1737360"/>
            <a:ext cx="2057400" cy="1828800"/>
          </a:xfrm>
          <a:prstGeom prst="roundRect">
            <a:avLst>
              <a:gd name="adj" fmla="val 8000"/>
            </a:avLst>
          </a:prstGeom>
          <a:solidFill>
            <a:srgbClr val="EEF3FF"/>
          </a:solidFill>
          <a:ln w="28575">
            <a:solidFill>
              <a:srgbClr val="0B0F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710928" y="1874519"/>
            <a:ext cx="1728216" cy="685800"/>
          </a:xfrm>
          <a:prstGeom prst="rect">
            <a:avLst/>
          </a:prstGeom>
          <a:noFill/>
        </p:spPr>
        <p:txBody>
          <a:bodyPr wrap="square" lIns="0" rIns="0" tIns="0" bIns="0" anchor="t">
            <a:spAutoFit/>
          </a:bodyPr>
          <a:lstStyle/>
          <a:p>
            <a:pPr algn="l">
              <a:spcAft>
                <a:spcPts val="600"/>
              </a:spcAft>
            </a:pPr>
            <a:r>
              <a:rPr sz="1400" b="0">
                <a:solidFill>
                  <a:srgbClr val="E3262F"/>
                </a:solidFill>
                <a:latin typeface="Arial Black"/>
              </a:rPr>
              <a:t>5 · Handler HQ</a:t>
            </a:r>
          </a:p>
        </p:txBody>
      </p:sp>
      <p:sp>
        <p:nvSpPr>
          <p:cNvPr id="24" name="TextBox 23"/>
          <p:cNvSpPr txBox="1"/>
          <p:nvPr/>
        </p:nvSpPr>
        <p:spPr>
          <a:xfrm>
            <a:off x="9710928" y="2606040"/>
            <a:ext cx="1728216" cy="914400"/>
          </a:xfrm>
          <a:prstGeom prst="rect">
            <a:avLst/>
          </a:prstGeom>
          <a:noFill/>
        </p:spPr>
        <p:txBody>
          <a:bodyPr wrap="square" lIns="0" rIns="0" tIns="0" bIns="0" anchor="t">
            <a:spAutoFit/>
          </a:bodyPr>
          <a:lstStyle/>
          <a:p>
            <a:pPr algn="l">
              <a:spcAft>
                <a:spcPts val="600"/>
              </a:spcAft>
            </a:pPr>
            <a:r>
              <a:rPr sz="1400" b="0">
                <a:solidFill>
                  <a:srgbClr val="0B0F1F"/>
                </a:solidFill>
                <a:latin typeface="Calibri"/>
              </a:rPr>
              <a:t>Flags, reasons, actions, alerts.</a:t>
            </a:r>
          </a:p>
        </p:txBody>
      </p:sp>
      <p:sp>
        <p:nvSpPr>
          <p:cNvPr id="25" name="Rounded Rectangle 24"/>
          <p:cNvSpPr/>
          <p:nvPr/>
        </p:nvSpPr>
        <p:spPr>
          <a:xfrm>
            <a:off x="612647" y="4041648"/>
            <a:ext cx="11064240" cy="1463040"/>
          </a:xfrm>
          <a:prstGeom prst="roundRect">
            <a:avLst>
              <a:gd name="adj" fmla="val 8000"/>
            </a:avLst>
          </a:prstGeom>
          <a:solidFill>
            <a:srgbClr val="0B0F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548640" y="3977639"/>
            <a:ext cx="11064240" cy="1463040"/>
          </a:xfrm>
          <a:prstGeom prst="roundRect">
            <a:avLst>
              <a:gd name="adj" fmla="val 8000"/>
            </a:avLst>
          </a:prstGeom>
          <a:solidFill>
            <a:srgbClr val="E3262F"/>
          </a:solidFill>
          <a:ln w="28575">
            <a:solidFill>
              <a:srgbClr val="0B0F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77240" y="4160520"/>
            <a:ext cx="10607040" cy="411480"/>
          </a:xfrm>
          <a:prstGeom prst="rect">
            <a:avLst/>
          </a:prstGeom>
          <a:noFill/>
        </p:spPr>
        <p:txBody>
          <a:bodyPr wrap="square" lIns="0" rIns="0" tIns="0" bIns="0" anchor="t">
            <a:spAutoFit/>
          </a:bodyPr>
          <a:lstStyle/>
          <a:p>
            <a:pPr algn="l">
              <a:spcAft>
                <a:spcPts val="600"/>
              </a:spcAft>
            </a:pPr>
            <a:r>
              <a:rPr sz="1600" b="0">
                <a:solidFill>
                  <a:srgbClr val="FFFFFF"/>
                </a:solidFill>
                <a:latin typeface="Arial Black"/>
              </a:rPr>
              <a:t>Check first</a:t>
            </a:r>
          </a:p>
        </p:txBody>
      </p:sp>
      <p:sp>
        <p:nvSpPr>
          <p:cNvPr id="28" name="TextBox 27"/>
          <p:cNvSpPr txBox="1"/>
          <p:nvPr/>
        </p:nvSpPr>
        <p:spPr>
          <a:xfrm>
            <a:off x="777240" y="4636007"/>
            <a:ext cx="10607040" cy="685800"/>
          </a:xfrm>
          <a:prstGeom prst="rect">
            <a:avLst/>
          </a:prstGeom>
          <a:noFill/>
        </p:spPr>
        <p:txBody>
          <a:bodyPr wrap="square" lIns="0" rIns="0" tIns="0" bIns="0" anchor="t">
            <a:spAutoFit/>
          </a:bodyPr>
          <a:lstStyle/>
          <a:p>
            <a:pPr algn="l">
              <a:spcAft>
                <a:spcPts val="600"/>
              </a:spcAft>
            </a:pPr>
            <a:r>
              <a:rPr sz="1500" b="0">
                <a:solidFill>
                  <a:srgbClr val="FFFFFF"/>
                </a:solidFill>
                <a:latin typeface="Calibri"/>
              </a:rPr>
              <a:t>If installing a release resets every score to the middle, the fix could restart the spiral. Wen confirms before we ship.</a:t>
            </a:r>
          </a:p>
        </p:txBody>
      </p:sp>
      <p:sp>
        <p:nvSpPr>
          <p:cNvPr id="29" name="TextBox 28"/>
          <p:cNvSpPr txBox="1"/>
          <p:nvPr/>
        </p:nvSpPr>
        <p:spPr>
          <a:xfrm>
            <a:off x="548640" y="6400800"/>
            <a:ext cx="9997135" cy="274320"/>
          </a:xfrm>
          <a:prstGeom prst="rect">
            <a:avLst/>
          </a:prstGeom>
          <a:noFill/>
        </p:spPr>
        <p:txBody>
          <a:bodyPr wrap="square" lIns="0" rIns="0" tIns="0" bIns="0" anchor="t">
            <a:spAutoFit/>
          </a:bodyPr>
          <a:lstStyle/>
          <a:p>
            <a:pPr algn="l">
              <a:spcAft>
                <a:spcPts val="600"/>
              </a:spcAft>
            </a:pPr>
            <a:r>
              <a:rPr sz="1100" b="0">
                <a:solidFill>
                  <a:srgbClr val="4D5778"/>
                </a:solidFill>
                <a:latin typeface="Calibri"/>
              </a:rPr>
              <a:t>Each phase behind an on/off switch, piloted in Kip's city, with a two-week watch owned by Wen.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D1B4C"/>
        </a:solidFill>
        <a:effectLst/>
      </p:bgPr>
    </p:bg>
    <p:spTree>
      <p:nvGrpSpPr>
        <p:cNvPr id="1" name=""/>
        <p:cNvGrpSpPr/>
        <p:nvPr/>
      </p:nvGrpSpPr>
      <p:grpSpPr/>
      <p:sp>
        <p:nvSpPr>
          <p:cNvPr id="2" name="TextBox 1"/>
          <p:cNvSpPr txBox="1"/>
          <p:nvPr/>
        </p:nvSpPr>
        <p:spPr>
          <a:xfrm>
            <a:off x="548640" y="411480"/>
            <a:ext cx="8229600" cy="320040"/>
          </a:xfrm>
          <a:prstGeom prst="rect">
            <a:avLst/>
          </a:prstGeom>
          <a:noFill/>
        </p:spPr>
        <p:txBody>
          <a:bodyPr wrap="square" lIns="0" rIns="0" tIns="0" bIns="0" anchor="t">
            <a:spAutoFit/>
          </a:bodyPr>
          <a:lstStyle/>
          <a:p>
            <a:pPr algn="l">
              <a:spcAft>
                <a:spcPts val="600"/>
              </a:spcAft>
            </a:pPr>
            <a:r>
              <a:rPr sz="1300" b="1">
                <a:solidFill>
                  <a:srgbClr val="C9D4FF"/>
                </a:solidFill>
                <a:latin typeface="Calibri"/>
              </a:rPr>
              <a:t>NEXT STEPS</a:t>
            </a:r>
          </a:p>
        </p:txBody>
      </p:sp>
      <p:sp>
        <p:nvSpPr>
          <p:cNvPr id="3" name="TextBox 2"/>
          <p:cNvSpPr txBox="1"/>
          <p:nvPr/>
        </p:nvSpPr>
        <p:spPr>
          <a:xfrm>
            <a:off x="548640" y="731520"/>
            <a:ext cx="11094415" cy="822960"/>
          </a:xfrm>
          <a:prstGeom prst="rect">
            <a:avLst/>
          </a:prstGeom>
          <a:noFill/>
        </p:spPr>
        <p:txBody>
          <a:bodyPr wrap="square" lIns="0" rIns="0" tIns="0" bIns="0" anchor="t">
            <a:spAutoFit/>
          </a:bodyPr>
          <a:lstStyle/>
          <a:p>
            <a:pPr algn="l">
              <a:spcAft>
                <a:spcPts val="600"/>
              </a:spcAft>
            </a:pPr>
            <a:r>
              <a:rPr sz="3200" b="0">
                <a:solidFill>
                  <a:srgbClr val="FFCC1F"/>
                </a:solidFill>
                <a:latin typeface="Arial Black"/>
              </a:rPr>
              <a:t>What happens next</a:t>
            </a:r>
          </a:p>
        </p:txBody>
      </p:sp>
      <p:sp>
        <p:nvSpPr>
          <p:cNvPr id="4" name="TextBox 3"/>
          <p:cNvSpPr txBox="1"/>
          <p:nvPr/>
        </p:nvSpPr>
        <p:spPr>
          <a:xfrm>
            <a:off x="10911535" y="6446520"/>
            <a:ext cx="822960" cy="274320"/>
          </a:xfrm>
          <a:prstGeom prst="rect">
            <a:avLst/>
          </a:prstGeom>
          <a:noFill/>
        </p:spPr>
        <p:txBody>
          <a:bodyPr wrap="square" lIns="0" rIns="0" tIns="0" bIns="0" anchor="t">
            <a:spAutoFit/>
          </a:bodyPr>
          <a:lstStyle/>
          <a:p>
            <a:pPr algn="r">
              <a:spcAft>
                <a:spcPts val="600"/>
              </a:spcAft>
            </a:pPr>
            <a:r>
              <a:rPr sz="1100" b="0">
                <a:solidFill>
                  <a:srgbClr val="C9D4FF"/>
                </a:solidFill>
                <a:latin typeface="Calibri"/>
              </a:rPr>
              <a:t>13 / 13</a:t>
            </a:r>
          </a:p>
        </p:txBody>
      </p:sp>
      <p:sp>
        <p:nvSpPr>
          <p:cNvPr id="5" name="Rounded Rectangle 4"/>
          <p:cNvSpPr/>
          <p:nvPr/>
        </p:nvSpPr>
        <p:spPr>
          <a:xfrm>
            <a:off x="612647" y="1984248"/>
            <a:ext cx="3429000" cy="2743200"/>
          </a:xfrm>
          <a:prstGeom prst="roundRect">
            <a:avLst>
              <a:gd name="adj" fmla="val 8000"/>
            </a:avLst>
          </a:prstGeom>
          <a:solidFill>
            <a:srgbClr val="0B0F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920240"/>
            <a:ext cx="3429000" cy="2743200"/>
          </a:xfrm>
          <a:prstGeom prst="roundRect">
            <a:avLst>
              <a:gd name="adj" fmla="val 8000"/>
            </a:avLst>
          </a:prstGeom>
          <a:solidFill>
            <a:srgbClr val="FFCC1F"/>
          </a:solidFill>
          <a:ln w="28575">
            <a:solidFill>
              <a:srgbClr val="0B0F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2103120"/>
            <a:ext cx="2971800" cy="411480"/>
          </a:xfrm>
          <a:prstGeom prst="rect">
            <a:avLst/>
          </a:prstGeom>
          <a:noFill/>
        </p:spPr>
        <p:txBody>
          <a:bodyPr wrap="square" lIns="0" rIns="0" tIns="0" bIns="0" anchor="t">
            <a:spAutoFit/>
          </a:bodyPr>
          <a:lstStyle/>
          <a:p>
            <a:pPr algn="l">
              <a:spcAft>
                <a:spcPts val="600"/>
              </a:spcAft>
            </a:pPr>
            <a:r>
              <a:rPr sz="1600" b="0">
                <a:solidFill>
                  <a:srgbClr val="0B0F1F"/>
                </a:solidFill>
                <a:latin typeface="Arial Black"/>
              </a:rPr>
              <a:t>Today</a:t>
            </a:r>
          </a:p>
        </p:txBody>
      </p:sp>
      <p:sp>
        <p:nvSpPr>
          <p:cNvPr id="8" name="TextBox 7"/>
          <p:cNvSpPr txBox="1"/>
          <p:nvPr/>
        </p:nvSpPr>
        <p:spPr>
          <a:xfrm>
            <a:off x="777240" y="2578608"/>
            <a:ext cx="2971800" cy="1965960"/>
          </a:xfrm>
          <a:prstGeom prst="rect">
            <a:avLst/>
          </a:prstGeom>
          <a:noFill/>
        </p:spPr>
        <p:txBody>
          <a:bodyPr wrap="square" lIns="0" rIns="0" tIns="0" bIns="0" anchor="t">
            <a:spAutoFit/>
          </a:bodyPr>
          <a:lstStyle/>
          <a:p>
            <a:pPr algn="l">
              <a:spcAft>
                <a:spcPts val="600"/>
              </a:spcAft>
            </a:pPr>
            <a:r>
              <a:rPr sz="1500" b="0">
                <a:solidFill>
                  <a:srgbClr val="0B0F1F"/>
                </a:solidFill>
                <a:latin typeface="Calibri"/>
              </a:rPr>
              <a:t>Your three decisions, release room, Sofia’s time.</a:t>
            </a:r>
          </a:p>
        </p:txBody>
      </p:sp>
      <p:sp>
        <p:nvSpPr>
          <p:cNvPr id="9" name="Rounded Rectangle 8"/>
          <p:cNvSpPr/>
          <p:nvPr/>
        </p:nvSpPr>
        <p:spPr>
          <a:xfrm>
            <a:off x="4425696" y="1984248"/>
            <a:ext cx="3429000" cy="2743200"/>
          </a:xfrm>
          <a:prstGeom prst="roundRect">
            <a:avLst>
              <a:gd name="adj" fmla="val 8000"/>
            </a:avLst>
          </a:prstGeom>
          <a:solidFill>
            <a:srgbClr val="0B0F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361688" y="1920240"/>
            <a:ext cx="3429000" cy="2743200"/>
          </a:xfrm>
          <a:prstGeom prst="roundRect">
            <a:avLst>
              <a:gd name="adj" fmla="val 8000"/>
            </a:avLst>
          </a:prstGeom>
          <a:solidFill>
            <a:srgbClr val="EEF3FF"/>
          </a:solidFill>
          <a:ln w="28575">
            <a:solidFill>
              <a:srgbClr val="0B0F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90288" y="2103120"/>
            <a:ext cx="2971800" cy="411480"/>
          </a:xfrm>
          <a:prstGeom prst="rect">
            <a:avLst/>
          </a:prstGeom>
          <a:noFill/>
        </p:spPr>
        <p:txBody>
          <a:bodyPr wrap="square" lIns="0" rIns="0" tIns="0" bIns="0" anchor="t">
            <a:spAutoFit/>
          </a:bodyPr>
          <a:lstStyle/>
          <a:p>
            <a:pPr algn="l">
              <a:spcAft>
                <a:spcPts val="600"/>
              </a:spcAft>
            </a:pPr>
            <a:r>
              <a:rPr sz="1600" b="0">
                <a:solidFill>
                  <a:srgbClr val="0B0F1F"/>
                </a:solidFill>
                <a:latin typeface="Arial Black"/>
              </a:rPr>
              <a:t>This week</a:t>
            </a:r>
          </a:p>
        </p:txBody>
      </p:sp>
      <p:sp>
        <p:nvSpPr>
          <p:cNvPr id="12" name="TextBox 11"/>
          <p:cNvSpPr txBox="1"/>
          <p:nvPr/>
        </p:nvSpPr>
        <p:spPr>
          <a:xfrm>
            <a:off x="4590288" y="2578608"/>
            <a:ext cx="2971800" cy="1965960"/>
          </a:xfrm>
          <a:prstGeom prst="rect">
            <a:avLst/>
          </a:prstGeom>
          <a:noFill/>
        </p:spPr>
        <p:txBody>
          <a:bodyPr wrap="square" lIns="0" rIns="0" tIns="0" bIns="0" anchor="t">
            <a:spAutoFit/>
          </a:bodyPr>
          <a:lstStyle/>
          <a:p>
            <a:pPr algn="l">
              <a:spcAft>
                <a:spcPts val="600"/>
              </a:spcAft>
            </a:pPr>
            <a:r>
              <a:rPr sz="1500" b="0">
                <a:solidFill>
                  <a:srgbClr val="0B0F1F"/>
                </a:solidFill>
                <a:latin typeface="Calibri"/>
              </a:rPr>
              <a:t>Wen: offer log, real scores, the push change. Ravi: CSV definitions, September data.</a:t>
            </a:r>
          </a:p>
        </p:txBody>
      </p:sp>
      <p:sp>
        <p:nvSpPr>
          <p:cNvPr id="13" name="Rounded Rectangle 12"/>
          <p:cNvSpPr/>
          <p:nvPr/>
        </p:nvSpPr>
        <p:spPr>
          <a:xfrm>
            <a:off x="8238744" y="1984248"/>
            <a:ext cx="3429000" cy="2743200"/>
          </a:xfrm>
          <a:prstGeom prst="roundRect">
            <a:avLst>
              <a:gd name="adj" fmla="val 8000"/>
            </a:avLst>
          </a:prstGeom>
          <a:solidFill>
            <a:srgbClr val="0B0F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174736" y="1920240"/>
            <a:ext cx="3429000" cy="2743200"/>
          </a:xfrm>
          <a:prstGeom prst="roundRect">
            <a:avLst>
              <a:gd name="adj" fmla="val 8000"/>
            </a:avLst>
          </a:prstGeom>
          <a:solidFill>
            <a:srgbClr val="13A862"/>
          </a:solidFill>
          <a:ln w="28575">
            <a:solidFill>
              <a:srgbClr val="0B0F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403336" y="2103120"/>
            <a:ext cx="2971800" cy="411480"/>
          </a:xfrm>
          <a:prstGeom prst="rect">
            <a:avLst/>
          </a:prstGeom>
          <a:noFill/>
        </p:spPr>
        <p:txBody>
          <a:bodyPr wrap="square" lIns="0" rIns="0" tIns="0" bIns="0" anchor="t">
            <a:spAutoFit/>
          </a:bodyPr>
          <a:lstStyle/>
          <a:p>
            <a:pPr algn="l">
              <a:spcAft>
                <a:spcPts val="600"/>
              </a:spcAft>
            </a:pPr>
            <a:r>
              <a:rPr sz="1600" b="0">
                <a:solidFill>
                  <a:srgbClr val="FFFFFF"/>
                </a:solidFill>
                <a:latin typeface="Arial Black"/>
              </a:rPr>
              <a:t>Next release</a:t>
            </a:r>
          </a:p>
        </p:txBody>
      </p:sp>
      <p:sp>
        <p:nvSpPr>
          <p:cNvPr id="16" name="TextBox 15"/>
          <p:cNvSpPr txBox="1"/>
          <p:nvPr/>
        </p:nvSpPr>
        <p:spPr>
          <a:xfrm>
            <a:off x="8403336" y="2578608"/>
            <a:ext cx="2971800" cy="1965960"/>
          </a:xfrm>
          <a:prstGeom prst="rect">
            <a:avLst/>
          </a:prstGeom>
          <a:noFill/>
        </p:spPr>
        <p:txBody>
          <a:bodyPr wrap="square" lIns="0" rIns="0" tIns="0" bIns="0" anchor="t">
            <a:spAutoFit/>
          </a:bodyPr>
          <a:lstStyle/>
          <a:p>
            <a:pPr algn="l">
              <a:spcAft>
                <a:spcPts val="600"/>
              </a:spcAft>
            </a:pPr>
            <a:r>
              <a:rPr sz="1500" b="0">
                <a:solidFill>
                  <a:srgbClr val="FFFFFF"/>
                </a:solidFill>
                <a:latin typeface="Calibri"/>
              </a:rPr>
              <a:t>Phase 1 logging and phase 2 fair scoring, piloted in Kip’s city.</a:t>
            </a:r>
          </a:p>
        </p:txBody>
      </p:sp>
      <p:sp>
        <p:nvSpPr>
          <p:cNvPr id="17" name="TextBox 16"/>
          <p:cNvSpPr txBox="1"/>
          <p:nvPr/>
        </p:nvSpPr>
        <p:spPr>
          <a:xfrm>
            <a:off x="548640" y="6400800"/>
            <a:ext cx="9997135" cy="274320"/>
          </a:xfrm>
          <a:prstGeom prst="rect">
            <a:avLst/>
          </a:prstGeom>
          <a:noFill/>
        </p:spPr>
        <p:txBody>
          <a:bodyPr wrap="square" lIns="0" rIns="0" tIns="0" bIns="0" anchor="t">
            <a:spAutoFit/>
          </a:bodyPr>
          <a:lstStyle/>
          <a:p>
            <a:pPr algn="l">
              <a:spcAft>
                <a:spcPts val="600"/>
              </a:spcAft>
            </a:pPr>
            <a:r>
              <a:rPr sz="1100" b="0">
                <a:solidFill>
                  <a:srgbClr val="C9D4FF"/>
                </a:solidFill>
                <a:latin typeface="Calibri"/>
              </a:rPr>
              <a:t>Detail: brief.md (one-pager) · prd.md · engineering-handoff.md · prototype.html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